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ial MT Pro" panose="020B0502020202020204" pitchFamily="34" charset="77"/>
      <p:regular r:id="rId11"/>
    </p:embeddedFont>
    <p:embeddedFont>
      <p:font typeface="Arial MT Pro Bold" panose="020B0802020202020204" pitchFamily="34" charset="77"/>
      <p:regular r:id="rId12"/>
      <p:bold r:id="rId13"/>
    </p:embeddedFont>
    <p:embeddedFont>
      <p:font typeface="Canva Sans Bold" panose="020B0803030501040103" pitchFamily="34"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58" autoAdjust="0"/>
  </p:normalViewPr>
  <p:slideViewPr>
    <p:cSldViewPr>
      <p:cViewPr varScale="1">
        <p:scale>
          <a:sx n="80" d="100"/>
          <a:sy n="80" d="100"/>
        </p:scale>
        <p:origin x="82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oim-7502-final-project-n2dhtfua8ss2s2wtetgabw.streamlit.app"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sp>
        <p:nvSpPr>
          <p:cNvPr id="2" name="Freeform 2"/>
          <p:cNvSpPr/>
          <p:nvPr/>
        </p:nvSpPr>
        <p:spPr>
          <a:xfrm>
            <a:off x="7640554" y="1297534"/>
            <a:ext cx="11404113" cy="11487660"/>
          </a:xfrm>
          <a:custGeom>
            <a:avLst/>
            <a:gdLst/>
            <a:ahLst/>
            <a:cxnLst/>
            <a:rect l="l" t="t" r="r" b="b"/>
            <a:pathLst>
              <a:path w="11404113" h="11487660">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2054482" y="6445596"/>
            <a:ext cx="3852321" cy="717442"/>
            <a:chOff x="0" y="0"/>
            <a:chExt cx="2182174" cy="406400"/>
          </a:xfrm>
        </p:grpSpPr>
        <p:sp>
          <p:nvSpPr>
            <p:cNvPr id="4" name="Freeform 4"/>
            <p:cNvSpPr/>
            <p:nvPr/>
          </p:nvSpPr>
          <p:spPr>
            <a:xfrm>
              <a:off x="0" y="0"/>
              <a:ext cx="2182174" cy="406400"/>
            </a:xfrm>
            <a:custGeom>
              <a:avLst/>
              <a:gdLst/>
              <a:ahLst/>
              <a:cxnLst/>
              <a:rect l="l" t="t" r="r" b="b"/>
              <a:pathLst>
                <a:path w="2182174" h="406400">
                  <a:moveTo>
                    <a:pt x="1978974" y="0"/>
                  </a:moveTo>
                  <a:cubicBezTo>
                    <a:pt x="2091198" y="0"/>
                    <a:pt x="2182174" y="90976"/>
                    <a:pt x="2182174" y="203200"/>
                  </a:cubicBezTo>
                  <a:cubicBezTo>
                    <a:pt x="2182174" y="315424"/>
                    <a:pt x="2091198" y="406400"/>
                    <a:pt x="197897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txBody>
            <a:bodyPr/>
            <a:lstStyle/>
            <a:p>
              <a:endParaRPr lang="en-US"/>
            </a:p>
          </p:txBody>
        </p:sp>
        <p:sp>
          <p:nvSpPr>
            <p:cNvPr id="5" name="TextBox 5"/>
            <p:cNvSpPr txBox="1"/>
            <p:nvPr/>
          </p:nvSpPr>
          <p:spPr>
            <a:xfrm>
              <a:off x="0" y="-38100"/>
              <a:ext cx="2182174"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1383774">
            <a:off x="7565571" y="197405"/>
            <a:ext cx="11226909" cy="14341591"/>
            <a:chOff x="0" y="0"/>
            <a:chExt cx="2956881" cy="3777209"/>
          </a:xfrm>
        </p:grpSpPr>
        <p:sp>
          <p:nvSpPr>
            <p:cNvPr id="7" name="Freeform 7"/>
            <p:cNvSpPr/>
            <p:nvPr/>
          </p:nvSpPr>
          <p:spPr>
            <a:xfrm>
              <a:off x="0" y="0"/>
              <a:ext cx="2956881" cy="3777209"/>
            </a:xfrm>
            <a:custGeom>
              <a:avLst/>
              <a:gdLst/>
              <a:ahLst/>
              <a:cxnLst/>
              <a:rect l="l" t="t" r="r" b="b"/>
              <a:pathLst>
                <a:path w="2956881" h="3777209">
                  <a:moveTo>
                    <a:pt x="0" y="0"/>
                  </a:moveTo>
                  <a:lnTo>
                    <a:pt x="2956881" y="0"/>
                  </a:lnTo>
                  <a:lnTo>
                    <a:pt x="2956881" y="3777209"/>
                  </a:lnTo>
                  <a:lnTo>
                    <a:pt x="0" y="3777209"/>
                  </a:lnTo>
                  <a:close/>
                </a:path>
              </a:pathLst>
            </a:custGeom>
            <a:gradFill rotWithShape="1">
              <a:gsLst>
                <a:gs pos="0">
                  <a:srgbClr val="141519">
                    <a:alpha val="100000"/>
                  </a:srgbClr>
                </a:gs>
                <a:gs pos="100000">
                  <a:srgbClr val="141519">
                    <a:alpha val="0"/>
                  </a:srgbClr>
                </a:gs>
              </a:gsLst>
              <a:lin ang="0"/>
            </a:gradFill>
          </p:spPr>
          <p:txBody>
            <a:bodyPr/>
            <a:lstStyle/>
            <a:p>
              <a:endParaRPr lang="en-US"/>
            </a:p>
          </p:txBody>
        </p:sp>
        <p:sp>
          <p:nvSpPr>
            <p:cNvPr id="8" name="TextBox 8"/>
            <p:cNvSpPr txBox="1"/>
            <p:nvPr/>
          </p:nvSpPr>
          <p:spPr>
            <a:xfrm>
              <a:off x="0" y="28575"/>
              <a:ext cx="2956881" cy="3748634"/>
            </a:xfrm>
            <a:prstGeom prst="rect">
              <a:avLst/>
            </a:prstGeom>
          </p:spPr>
          <p:txBody>
            <a:bodyPr lIns="50800" tIns="50800" rIns="50800" bIns="50800" rtlCol="0" anchor="ctr"/>
            <a:lstStyle/>
            <a:p>
              <a:pPr algn="ctr">
                <a:lnSpc>
                  <a:spcPts val="2267"/>
                </a:lnSpc>
              </a:pPr>
              <a:endParaRPr/>
            </a:p>
          </p:txBody>
        </p:sp>
      </p:grpSp>
      <p:grpSp>
        <p:nvGrpSpPr>
          <p:cNvPr id="9" name="Group 9"/>
          <p:cNvGrpSpPr/>
          <p:nvPr/>
        </p:nvGrpSpPr>
        <p:grpSpPr>
          <a:xfrm rot="1383774">
            <a:off x="7012072" y="108644"/>
            <a:ext cx="10773748" cy="14341591"/>
            <a:chOff x="0" y="0"/>
            <a:chExt cx="2837530" cy="3777209"/>
          </a:xfrm>
        </p:grpSpPr>
        <p:sp>
          <p:nvSpPr>
            <p:cNvPr id="10" name="Freeform 10"/>
            <p:cNvSpPr/>
            <p:nvPr/>
          </p:nvSpPr>
          <p:spPr>
            <a:xfrm>
              <a:off x="0" y="0"/>
              <a:ext cx="2837530" cy="3777209"/>
            </a:xfrm>
            <a:custGeom>
              <a:avLst/>
              <a:gdLst/>
              <a:ahLst/>
              <a:cxnLst/>
              <a:rect l="l" t="t" r="r" b="b"/>
              <a:pathLst>
                <a:path w="2837530" h="3777209">
                  <a:moveTo>
                    <a:pt x="0" y="0"/>
                  </a:moveTo>
                  <a:lnTo>
                    <a:pt x="2837530" y="0"/>
                  </a:lnTo>
                  <a:lnTo>
                    <a:pt x="2837530" y="3777209"/>
                  </a:lnTo>
                  <a:lnTo>
                    <a:pt x="0" y="3777209"/>
                  </a:lnTo>
                  <a:close/>
                </a:path>
              </a:pathLst>
            </a:custGeom>
            <a:gradFill rotWithShape="1">
              <a:gsLst>
                <a:gs pos="0">
                  <a:srgbClr val="141519">
                    <a:alpha val="100000"/>
                  </a:srgbClr>
                </a:gs>
                <a:gs pos="100000">
                  <a:srgbClr val="141519">
                    <a:alpha val="0"/>
                  </a:srgbClr>
                </a:gs>
              </a:gsLst>
              <a:lin ang="0"/>
            </a:gradFill>
          </p:spPr>
          <p:txBody>
            <a:bodyPr/>
            <a:lstStyle/>
            <a:p>
              <a:endParaRPr lang="en-US"/>
            </a:p>
          </p:txBody>
        </p:sp>
        <p:sp>
          <p:nvSpPr>
            <p:cNvPr id="11" name="TextBox 11"/>
            <p:cNvSpPr txBox="1"/>
            <p:nvPr/>
          </p:nvSpPr>
          <p:spPr>
            <a:xfrm>
              <a:off x="0" y="28575"/>
              <a:ext cx="2837530" cy="3748634"/>
            </a:xfrm>
            <a:prstGeom prst="rect">
              <a:avLst/>
            </a:prstGeom>
          </p:spPr>
          <p:txBody>
            <a:bodyPr lIns="50800" tIns="50800" rIns="50800" bIns="50800" rtlCol="0" anchor="ctr"/>
            <a:lstStyle/>
            <a:p>
              <a:pPr algn="ctr">
                <a:lnSpc>
                  <a:spcPts val="2267"/>
                </a:lnSpc>
              </a:pPr>
              <a:endParaRPr/>
            </a:p>
          </p:txBody>
        </p:sp>
      </p:grpSp>
      <p:sp>
        <p:nvSpPr>
          <p:cNvPr id="12" name="TextBox 12"/>
          <p:cNvSpPr txBox="1"/>
          <p:nvPr/>
        </p:nvSpPr>
        <p:spPr>
          <a:xfrm>
            <a:off x="2054482" y="3255901"/>
            <a:ext cx="13065809" cy="2734946"/>
          </a:xfrm>
          <a:prstGeom prst="rect">
            <a:avLst/>
          </a:prstGeom>
        </p:spPr>
        <p:txBody>
          <a:bodyPr lIns="0" tIns="0" rIns="0" bIns="0" rtlCol="0" anchor="t">
            <a:spAutoFit/>
          </a:bodyPr>
          <a:lstStyle/>
          <a:p>
            <a:pPr algn="l">
              <a:lnSpc>
                <a:spcPts val="7040"/>
              </a:lnSpc>
            </a:pPr>
            <a:r>
              <a:rPr lang="en-US" sz="8000" b="1" spc="-128">
                <a:solidFill>
                  <a:srgbClr val="FFFFFF"/>
                </a:solidFill>
                <a:latin typeface="Canva Sans Bold"/>
                <a:ea typeface="Canva Sans Bold"/>
                <a:cs typeface="Canva Sans Bold"/>
                <a:sym typeface="Canva Sans Bold"/>
              </a:rPr>
              <a:t>DC Public Employee Salary &amp; Housing Affordability Analysis</a:t>
            </a:r>
          </a:p>
        </p:txBody>
      </p:sp>
      <p:sp>
        <p:nvSpPr>
          <p:cNvPr id="13" name="TextBox 13"/>
          <p:cNvSpPr txBox="1"/>
          <p:nvPr/>
        </p:nvSpPr>
        <p:spPr>
          <a:xfrm>
            <a:off x="2246069" y="6636757"/>
            <a:ext cx="3469146" cy="363694"/>
          </a:xfrm>
          <a:prstGeom prst="rect">
            <a:avLst/>
          </a:prstGeom>
        </p:spPr>
        <p:txBody>
          <a:bodyPr lIns="0" tIns="0" rIns="0" bIns="0" rtlCol="0" anchor="t">
            <a:spAutoFit/>
          </a:bodyPr>
          <a:lstStyle/>
          <a:p>
            <a:pPr algn="l">
              <a:lnSpc>
                <a:spcPts val="2306"/>
              </a:lnSpc>
            </a:pPr>
            <a:r>
              <a:rPr lang="en-US" sz="2621">
                <a:solidFill>
                  <a:srgbClr val="FFFFFF"/>
                </a:solidFill>
                <a:latin typeface="Arial MT Pro"/>
                <a:ea typeface="Arial MT Pro"/>
                <a:cs typeface="Arial MT Pro"/>
                <a:sym typeface="Arial MT Pro"/>
              </a:rPr>
              <a:t>Advance programming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2" name="Group 2"/>
          <p:cNvGrpSpPr/>
          <p:nvPr/>
        </p:nvGrpSpPr>
        <p:grpSpPr>
          <a:xfrm rot="-4011154">
            <a:off x="14044924" y="1464134"/>
            <a:ext cx="17403374" cy="18180272"/>
            <a:chOff x="0" y="0"/>
            <a:chExt cx="4583605" cy="4788220"/>
          </a:xfrm>
        </p:grpSpPr>
        <p:sp>
          <p:nvSpPr>
            <p:cNvPr id="3" name="Freeform 3"/>
            <p:cNvSpPr/>
            <p:nvPr/>
          </p:nvSpPr>
          <p:spPr>
            <a:xfrm>
              <a:off x="0" y="0"/>
              <a:ext cx="4583605" cy="4788220"/>
            </a:xfrm>
            <a:custGeom>
              <a:avLst/>
              <a:gdLst/>
              <a:ahLst/>
              <a:cxnLst/>
              <a:rect l="l" t="t" r="r" b="b"/>
              <a:pathLst>
                <a:path w="4583605" h="4788220">
                  <a:moveTo>
                    <a:pt x="0" y="0"/>
                  </a:moveTo>
                  <a:lnTo>
                    <a:pt x="4583605" y="0"/>
                  </a:lnTo>
                  <a:lnTo>
                    <a:pt x="4583605" y="4788220"/>
                  </a:lnTo>
                  <a:lnTo>
                    <a:pt x="0" y="4788220"/>
                  </a:ln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4" name="TextBox 4"/>
            <p:cNvSpPr txBox="1"/>
            <p:nvPr/>
          </p:nvSpPr>
          <p:spPr>
            <a:xfrm>
              <a:off x="0" y="19050"/>
              <a:ext cx="4583605" cy="4769170"/>
            </a:xfrm>
            <a:prstGeom prst="rect">
              <a:avLst/>
            </a:prstGeom>
          </p:spPr>
          <p:txBody>
            <a:bodyPr lIns="50800" tIns="50800" rIns="50800" bIns="50800" rtlCol="0" anchor="ctr"/>
            <a:lstStyle/>
            <a:p>
              <a:pPr algn="ctr">
                <a:lnSpc>
                  <a:spcPts val="1387"/>
                </a:lnSpc>
              </a:pPr>
              <a:endParaRPr/>
            </a:p>
          </p:txBody>
        </p:sp>
      </p:grpSp>
      <p:grpSp>
        <p:nvGrpSpPr>
          <p:cNvPr id="5" name="Group 5"/>
          <p:cNvGrpSpPr/>
          <p:nvPr/>
        </p:nvGrpSpPr>
        <p:grpSpPr>
          <a:xfrm>
            <a:off x="1370366" y="1476886"/>
            <a:ext cx="6468537" cy="7431543"/>
            <a:chOff x="0" y="0"/>
            <a:chExt cx="812800" cy="933806"/>
          </a:xfrm>
        </p:grpSpPr>
        <p:sp>
          <p:nvSpPr>
            <p:cNvPr id="6" name="Freeform 6"/>
            <p:cNvSpPr/>
            <p:nvPr/>
          </p:nvSpPr>
          <p:spPr>
            <a:xfrm>
              <a:off x="0" y="0"/>
              <a:ext cx="812800" cy="933806"/>
            </a:xfrm>
            <a:custGeom>
              <a:avLst/>
              <a:gdLst/>
              <a:ahLst/>
              <a:cxnLst/>
              <a:rect l="l" t="t" r="r" b="b"/>
              <a:pathLst>
                <a:path w="812800" h="933806">
                  <a:moveTo>
                    <a:pt x="58646" y="0"/>
                  </a:moveTo>
                  <a:lnTo>
                    <a:pt x="754154" y="0"/>
                  </a:lnTo>
                  <a:cubicBezTo>
                    <a:pt x="786543" y="0"/>
                    <a:pt x="812800" y="26257"/>
                    <a:pt x="812800" y="58646"/>
                  </a:cubicBezTo>
                  <a:lnTo>
                    <a:pt x="812800" y="875160"/>
                  </a:lnTo>
                  <a:cubicBezTo>
                    <a:pt x="812800" y="890714"/>
                    <a:pt x="806621" y="905631"/>
                    <a:pt x="795623" y="916629"/>
                  </a:cubicBezTo>
                  <a:cubicBezTo>
                    <a:pt x="784625" y="927627"/>
                    <a:pt x="769708" y="933806"/>
                    <a:pt x="754154" y="933806"/>
                  </a:cubicBezTo>
                  <a:lnTo>
                    <a:pt x="58646" y="933806"/>
                  </a:lnTo>
                  <a:cubicBezTo>
                    <a:pt x="26257" y="933806"/>
                    <a:pt x="0" y="907549"/>
                    <a:pt x="0" y="875160"/>
                  </a:cubicBezTo>
                  <a:lnTo>
                    <a:pt x="0" y="58646"/>
                  </a:lnTo>
                  <a:cubicBezTo>
                    <a:pt x="0" y="26257"/>
                    <a:pt x="26257" y="0"/>
                    <a:pt x="58646" y="0"/>
                  </a:cubicBezTo>
                  <a:close/>
                </a:path>
              </a:pathLst>
            </a:custGeom>
            <a:blipFill>
              <a:blip r:embed="rId2"/>
              <a:stretch>
                <a:fillRect l="-36219" r="-36219"/>
              </a:stretch>
            </a:blipFill>
          </p:spPr>
          <p:txBody>
            <a:bodyPr/>
            <a:lstStyle/>
            <a:p>
              <a:endParaRPr lang="en-US"/>
            </a:p>
          </p:txBody>
        </p:sp>
      </p:grpSp>
      <p:grpSp>
        <p:nvGrpSpPr>
          <p:cNvPr id="7" name="Group 7"/>
          <p:cNvGrpSpPr/>
          <p:nvPr/>
        </p:nvGrpSpPr>
        <p:grpSpPr>
          <a:xfrm>
            <a:off x="2054482" y="4949018"/>
            <a:ext cx="5784422" cy="3959411"/>
            <a:chOff x="0" y="0"/>
            <a:chExt cx="1523469" cy="1042808"/>
          </a:xfrm>
        </p:grpSpPr>
        <p:sp>
          <p:nvSpPr>
            <p:cNvPr id="8" name="Freeform 8"/>
            <p:cNvSpPr/>
            <p:nvPr/>
          </p:nvSpPr>
          <p:spPr>
            <a:xfrm>
              <a:off x="0" y="0"/>
              <a:ext cx="1523469" cy="1042808"/>
            </a:xfrm>
            <a:custGeom>
              <a:avLst/>
              <a:gdLst/>
              <a:ahLst/>
              <a:cxnLst/>
              <a:rect l="l" t="t" r="r" b="b"/>
              <a:pathLst>
                <a:path w="1523469" h="1042808">
                  <a:moveTo>
                    <a:pt x="68259" y="0"/>
                  </a:moveTo>
                  <a:lnTo>
                    <a:pt x="1455210" y="0"/>
                  </a:lnTo>
                  <a:cubicBezTo>
                    <a:pt x="1473314" y="0"/>
                    <a:pt x="1490675" y="7192"/>
                    <a:pt x="1503476" y="19993"/>
                  </a:cubicBezTo>
                  <a:cubicBezTo>
                    <a:pt x="1516278" y="32794"/>
                    <a:pt x="1523469" y="50155"/>
                    <a:pt x="1523469" y="68259"/>
                  </a:cubicBezTo>
                  <a:lnTo>
                    <a:pt x="1523469" y="974549"/>
                  </a:lnTo>
                  <a:cubicBezTo>
                    <a:pt x="1523469" y="1012247"/>
                    <a:pt x="1492908" y="1042808"/>
                    <a:pt x="1455210" y="1042808"/>
                  </a:cubicBezTo>
                  <a:lnTo>
                    <a:pt x="68259" y="1042808"/>
                  </a:lnTo>
                  <a:cubicBezTo>
                    <a:pt x="50155" y="1042808"/>
                    <a:pt x="32794" y="1035616"/>
                    <a:pt x="19993" y="1022815"/>
                  </a:cubicBezTo>
                  <a:cubicBezTo>
                    <a:pt x="7192" y="1010014"/>
                    <a:pt x="0" y="992652"/>
                    <a:pt x="0" y="974549"/>
                  </a:cubicBezTo>
                  <a:lnTo>
                    <a:pt x="0" y="68259"/>
                  </a:lnTo>
                  <a:cubicBezTo>
                    <a:pt x="0" y="30561"/>
                    <a:pt x="30561" y="0"/>
                    <a:pt x="68259" y="0"/>
                  </a:cubicBezTo>
                  <a:close/>
                </a:path>
              </a:pathLst>
            </a:custGeom>
            <a:gradFill rotWithShape="1">
              <a:gsLst>
                <a:gs pos="0">
                  <a:srgbClr val="141519">
                    <a:alpha val="0"/>
                  </a:srgbClr>
                </a:gs>
                <a:gs pos="100000">
                  <a:srgbClr val="141519">
                    <a:alpha val="57000"/>
                  </a:srgbClr>
                </a:gs>
              </a:gsLst>
              <a:lin ang="5400000"/>
            </a:gradFill>
          </p:spPr>
          <p:txBody>
            <a:bodyPr/>
            <a:lstStyle/>
            <a:p>
              <a:endParaRPr lang="en-US"/>
            </a:p>
          </p:txBody>
        </p:sp>
        <p:sp>
          <p:nvSpPr>
            <p:cNvPr id="9" name="TextBox 9"/>
            <p:cNvSpPr txBox="1"/>
            <p:nvPr/>
          </p:nvSpPr>
          <p:spPr>
            <a:xfrm>
              <a:off x="0" y="19050"/>
              <a:ext cx="1523469" cy="1023758"/>
            </a:xfrm>
            <a:prstGeom prst="rect">
              <a:avLst/>
            </a:prstGeom>
          </p:spPr>
          <p:txBody>
            <a:bodyPr lIns="50800" tIns="50800" rIns="50800" bIns="50800" rtlCol="0" anchor="ctr"/>
            <a:lstStyle/>
            <a:p>
              <a:pPr algn="ctr">
                <a:lnSpc>
                  <a:spcPts val="1387"/>
                </a:lnSpc>
              </a:pPr>
              <a:endParaRPr/>
            </a:p>
          </p:txBody>
        </p:sp>
      </p:grpSp>
      <p:grpSp>
        <p:nvGrpSpPr>
          <p:cNvPr id="10" name="Group 10"/>
          <p:cNvGrpSpPr/>
          <p:nvPr/>
        </p:nvGrpSpPr>
        <p:grpSpPr>
          <a:xfrm>
            <a:off x="8501894" y="1476886"/>
            <a:ext cx="7863755" cy="1123232"/>
            <a:chOff x="0" y="0"/>
            <a:chExt cx="2051372" cy="293011"/>
          </a:xfrm>
        </p:grpSpPr>
        <p:sp>
          <p:nvSpPr>
            <p:cNvPr id="11" name="Freeform 11"/>
            <p:cNvSpPr/>
            <p:nvPr/>
          </p:nvSpPr>
          <p:spPr>
            <a:xfrm>
              <a:off x="0" y="0"/>
              <a:ext cx="2051372" cy="293011"/>
            </a:xfrm>
            <a:custGeom>
              <a:avLst/>
              <a:gdLst/>
              <a:ahLst/>
              <a:cxnLst/>
              <a:rect l="l" t="t" r="r" b="b"/>
              <a:pathLst>
                <a:path w="2051372" h="293011">
                  <a:moveTo>
                    <a:pt x="20675" y="0"/>
                  </a:moveTo>
                  <a:lnTo>
                    <a:pt x="2030698" y="0"/>
                  </a:lnTo>
                  <a:cubicBezTo>
                    <a:pt x="2036181" y="0"/>
                    <a:pt x="2041440" y="2178"/>
                    <a:pt x="2045317" y="6055"/>
                  </a:cubicBezTo>
                  <a:cubicBezTo>
                    <a:pt x="2049194" y="9933"/>
                    <a:pt x="2051372" y="15191"/>
                    <a:pt x="2051372" y="20675"/>
                  </a:cubicBezTo>
                  <a:lnTo>
                    <a:pt x="2051372" y="272336"/>
                  </a:lnTo>
                  <a:cubicBezTo>
                    <a:pt x="2051372" y="283755"/>
                    <a:pt x="2042116" y="293011"/>
                    <a:pt x="2030698" y="293011"/>
                  </a:cubicBezTo>
                  <a:lnTo>
                    <a:pt x="20675" y="293011"/>
                  </a:lnTo>
                  <a:cubicBezTo>
                    <a:pt x="15191" y="293011"/>
                    <a:pt x="9933" y="290833"/>
                    <a:pt x="6055" y="286956"/>
                  </a:cubicBezTo>
                  <a:cubicBezTo>
                    <a:pt x="2178" y="283078"/>
                    <a:pt x="0" y="277820"/>
                    <a:pt x="0" y="272336"/>
                  </a:cubicBezTo>
                  <a:lnTo>
                    <a:pt x="0" y="20675"/>
                  </a:lnTo>
                  <a:cubicBezTo>
                    <a:pt x="0" y="15191"/>
                    <a:pt x="2178" y="9933"/>
                    <a:pt x="6055" y="6055"/>
                  </a:cubicBezTo>
                  <a:cubicBezTo>
                    <a:pt x="9933" y="2178"/>
                    <a:pt x="15191" y="0"/>
                    <a:pt x="20675" y="0"/>
                  </a:cubicBezTo>
                  <a:close/>
                </a:path>
              </a:pathLst>
            </a:custGeom>
            <a:solidFill>
              <a:srgbClr val="202127"/>
            </a:solidFill>
          </p:spPr>
          <p:txBody>
            <a:bodyPr/>
            <a:lstStyle/>
            <a:p>
              <a:endParaRPr lang="en-US"/>
            </a:p>
          </p:txBody>
        </p:sp>
        <p:sp>
          <p:nvSpPr>
            <p:cNvPr id="12" name="TextBox 12"/>
            <p:cNvSpPr txBox="1"/>
            <p:nvPr/>
          </p:nvSpPr>
          <p:spPr>
            <a:xfrm>
              <a:off x="0" y="19050"/>
              <a:ext cx="2051372" cy="273961"/>
            </a:xfrm>
            <a:prstGeom prst="rect">
              <a:avLst/>
            </a:prstGeom>
          </p:spPr>
          <p:txBody>
            <a:bodyPr lIns="50800" tIns="50800" rIns="50800" bIns="50800" rtlCol="0" anchor="ctr"/>
            <a:lstStyle/>
            <a:p>
              <a:pPr algn="ctr">
                <a:lnSpc>
                  <a:spcPts val="1387"/>
                </a:lnSpc>
              </a:pPr>
              <a:endParaRPr/>
            </a:p>
          </p:txBody>
        </p:sp>
      </p:grpSp>
      <p:grpSp>
        <p:nvGrpSpPr>
          <p:cNvPr id="13" name="Group 13"/>
          <p:cNvGrpSpPr/>
          <p:nvPr/>
        </p:nvGrpSpPr>
        <p:grpSpPr>
          <a:xfrm>
            <a:off x="8501894" y="3055451"/>
            <a:ext cx="7863755" cy="1123232"/>
            <a:chOff x="0" y="0"/>
            <a:chExt cx="2051372" cy="293011"/>
          </a:xfrm>
        </p:grpSpPr>
        <p:sp>
          <p:nvSpPr>
            <p:cNvPr id="14" name="Freeform 14"/>
            <p:cNvSpPr/>
            <p:nvPr/>
          </p:nvSpPr>
          <p:spPr>
            <a:xfrm>
              <a:off x="0" y="0"/>
              <a:ext cx="2051372" cy="293011"/>
            </a:xfrm>
            <a:custGeom>
              <a:avLst/>
              <a:gdLst/>
              <a:ahLst/>
              <a:cxnLst/>
              <a:rect l="l" t="t" r="r" b="b"/>
              <a:pathLst>
                <a:path w="2051372" h="293011">
                  <a:moveTo>
                    <a:pt x="20675" y="0"/>
                  </a:moveTo>
                  <a:lnTo>
                    <a:pt x="2030698" y="0"/>
                  </a:lnTo>
                  <a:cubicBezTo>
                    <a:pt x="2036181" y="0"/>
                    <a:pt x="2041440" y="2178"/>
                    <a:pt x="2045317" y="6055"/>
                  </a:cubicBezTo>
                  <a:cubicBezTo>
                    <a:pt x="2049194" y="9933"/>
                    <a:pt x="2051372" y="15191"/>
                    <a:pt x="2051372" y="20675"/>
                  </a:cubicBezTo>
                  <a:lnTo>
                    <a:pt x="2051372" y="272336"/>
                  </a:lnTo>
                  <a:cubicBezTo>
                    <a:pt x="2051372" y="283755"/>
                    <a:pt x="2042116" y="293011"/>
                    <a:pt x="2030698" y="293011"/>
                  </a:cubicBezTo>
                  <a:lnTo>
                    <a:pt x="20675" y="293011"/>
                  </a:lnTo>
                  <a:cubicBezTo>
                    <a:pt x="15191" y="293011"/>
                    <a:pt x="9933" y="290833"/>
                    <a:pt x="6055" y="286956"/>
                  </a:cubicBezTo>
                  <a:cubicBezTo>
                    <a:pt x="2178" y="283078"/>
                    <a:pt x="0" y="277820"/>
                    <a:pt x="0" y="272336"/>
                  </a:cubicBezTo>
                  <a:lnTo>
                    <a:pt x="0" y="20675"/>
                  </a:lnTo>
                  <a:cubicBezTo>
                    <a:pt x="0" y="15191"/>
                    <a:pt x="2178" y="9933"/>
                    <a:pt x="6055" y="6055"/>
                  </a:cubicBezTo>
                  <a:cubicBezTo>
                    <a:pt x="9933" y="2178"/>
                    <a:pt x="15191" y="0"/>
                    <a:pt x="20675" y="0"/>
                  </a:cubicBezTo>
                  <a:close/>
                </a:path>
              </a:pathLst>
            </a:custGeom>
            <a:solidFill>
              <a:srgbClr val="202127"/>
            </a:solidFill>
          </p:spPr>
          <p:txBody>
            <a:bodyPr/>
            <a:lstStyle/>
            <a:p>
              <a:endParaRPr lang="en-US"/>
            </a:p>
          </p:txBody>
        </p:sp>
        <p:sp>
          <p:nvSpPr>
            <p:cNvPr id="15" name="TextBox 15"/>
            <p:cNvSpPr txBox="1"/>
            <p:nvPr/>
          </p:nvSpPr>
          <p:spPr>
            <a:xfrm>
              <a:off x="0" y="19050"/>
              <a:ext cx="2051372" cy="273961"/>
            </a:xfrm>
            <a:prstGeom prst="rect">
              <a:avLst/>
            </a:prstGeom>
          </p:spPr>
          <p:txBody>
            <a:bodyPr lIns="50800" tIns="50800" rIns="50800" bIns="50800" rtlCol="0" anchor="ctr"/>
            <a:lstStyle/>
            <a:p>
              <a:pPr algn="ctr">
                <a:lnSpc>
                  <a:spcPts val="1387"/>
                </a:lnSpc>
              </a:pPr>
              <a:endParaRPr/>
            </a:p>
          </p:txBody>
        </p:sp>
      </p:grpSp>
      <p:grpSp>
        <p:nvGrpSpPr>
          <p:cNvPr id="16" name="Group 16"/>
          <p:cNvGrpSpPr/>
          <p:nvPr/>
        </p:nvGrpSpPr>
        <p:grpSpPr>
          <a:xfrm>
            <a:off x="8501894" y="4632033"/>
            <a:ext cx="7863755" cy="1123232"/>
            <a:chOff x="0" y="0"/>
            <a:chExt cx="2051372" cy="293011"/>
          </a:xfrm>
        </p:grpSpPr>
        <p:sp>
          <p:nvSpPr>
            <p:cNvPr id="17" name="Freeform 17"/>
            <p:cNvSpPr/>
            <p:nvPr/>
          </p:nvSpPr>
          <p:spPr>
            <a:xfrm>
              <a:off x="0" y="0"/>
              <a:ext cx="2051372" cy="293011"/>
            </a:xfrm>
            <a:custGeom>
              <a:avLst/>
              <a:gdLst/>
              <a:ahLst/>
              <a:cxnLst/>
              <a:rect l="l" t="t" r="r" b="b"/>
              <a:pathLst>
                <a:path w="2051372" h="293011">
                  <a:moveTo>
                    <a:pt x="20675" y="0"/>
                  </a:moveTo>
                  <a:lnTo>
                    <a:pt x="2030698" y="0"/>
                  </a:lnTo>
                  <a:cubicBezTo>
                    <a:pt x="2036181" y="0"/>
                    <a:pt x="2041440" y="2178"/>
                    <a:pt x="2045317" y="6055"/>
                  </a:cubicBezTo>
                  <a:cubicBezTo>
                    <a:pt x="2049194" y="9933"/>
                    <a:pt x="2051372" y="15191"/>
                    <a:pt x="2051372" y="20675"/>
                  </a:cubicBezTo>
                  <a:lnTo>
                    <a:pt x="2051372" y="272336"/>
                  </a:lnTo>
                  <a:cubicBezTo>
                    <a:pt x="2051372" y="283755"/>
                    <a:pt x="2042116" y="293011"/>
                    <a:pt x="2030698" y="293011"/>
                  </a:cubicBezTo>
                  <a:lnTo>
                    <a:pt x="20675" y="293011"/>
                  </a:lnTo>
                  <a:cubicBezTo>
                    <a:pt x="15191" y="293011"/>
                    <a:pt x="9933" y="290833"/>
                    <a:pt x="6055" y="286956"/>
                  </a:cubicBezTo>
                  <a:cubicBezTo>
                    <a:pt x="2178" y="283078"/>
                    <a:pt x="0" y="277820"/>
                    <a:pt x="0" y="272336"/>
                  </a:cubicBezTo>
                  <a:lnTo>
                    <a:pt x="0" y="20675"/>
                  </a:lnTo>
                  <a:cubicBezTo>
                    <a:pt x="0" y="15191"/>
                    <a:pt x="2178" y="9933"/>
                    <a:pt x="6055" y="6055"/>
                  </a:cubicBezTo>
                  <a:cubicBezTo>
                    <a:pt x="9933" y="2178"/>
                    <a:pt x="15191" y="0"/>
                    <a:pt x="20675" y="0"/>
                  </a:cubicBezTo>
                  <a:close/>
                </a:path>
              </a:pathLst>
            </a:custGeom>
            <a:solidFill>
              <a:srgbClr val="202127"/>
            </a:solidFill>
          </p:spPr>
          <p:txBody>
            <a:bodyPr/>
            <a:lstStyle/>
            <a:p>
              <a:endParaRPr lang="en-US"/>
            </a:p>
          </p:txBody>
        </p:sp>
        <p:sp>
          <p:nvSpPr>
            <p:cNvPr id="18" name="TextBox 18"/>
            <p:cNvSpPr txBox="1"/>
            <p:nvPr/>
          </p:nvSpPr>
          <p:spPr>
            <a:xfrm>
              <a:off x="0" y="19050"/>
              <a:ext cx="2051372" cy="273961"/>
            </a:xfrm>
            <a:prstGeom prst="rect">
              <a:avLst/>
            </a:prstGeom>
          </p:spPr>
          <p:txBody>
            <a:bodyPr lIns="50800" tIns="50800" rIns="50800" bIns="50800" rtlCol="0" anchor="ctr"/>
            <a:lstStyle/>
            <a:p>
              <a:pPr algn="ctr">
                <a:lnSpc>
                  <a:spcPts val="1387"/>
                </a:lnSpc>
              </a:pPr>
              <a:endParaRPr/>
            </a:p>
          </p:txBody>
        </p:sp>
      </p:grpSp>
      <p:grpSp>
        <p:nvGrpSpPr>
          <p:cNvPr id="19" name="Group 19"/>
          <p:cNvGrpSpPr/>
          <p:nvPr/>
        </p:nvGrpSpPr>
        <p:grpSpPr>
          <a:xfrm>
            <a:off x="8501894" y="6208615"/>
            <a:ext cx="7863755" cy="1123232"/>
            <a:chOff x="0" y="0"/>
            <a:chExt cx="2051372" cy="293011"/>
          </a:xfrm>
        </p:grpSpPr>
        <p:sp>
          <p:nvSpPr>
            <p:cNvPr id="20" name="Freeform 20"/>
            <p:cNvSpPr/>
            <p:nvPr/>
          </p:nvSpPr>
          <p:spPr>
            <a:xfrm>
              <a:off x="0" y="0"/>
              <a:ext cx="2051372" cy="293011"/>
            </a:xfrm>
            <a:custGeom>
              <a:avLst/>
              <a:gdLst/>
              <a:ahLst/>
              <a:cxnLst/>
              <a:rect l="l" t="t" r="r" b="b"/>
              <a:pathLst>
                <a:path w="2051372" h="293011">
                  <a:moveTo>
                    <a:pt x="20675" y="0"/>
                  </a:moveTo>
                  <a:lnTo>
                    <a:pt x="2030698" y="0"/>
                  </a:lnTo>
                  <a:cubicBezTo>
                    <a:pt x="2036181" y="0"/>
                    <a:pt x="2041440" y="2178"/>
                    <a:pt x="2045317" y="6055"/>
                  </a:cubicBezTo>
                  <a:cubicBezTo>
                    <a:pt x="2049194" y="9933"/>
                    <a:pt x="2051372" y="15191"/>
                    <a:pt x="2051372" y="20675"/>
                  </a:cubicBezTo>
                  <a:lnTo>
                    <a:pt x="2051372" y="272336"/>
                  </a:lnTo>
                  <a:cubicBezTo>
                    <a:pt x="2051372" y="283755"/>
                    <a:pt x="2042116" y="293011"/>
                    <a:pt x="2030698" y="293011"/>
                  </a:cubicBezTo>
                  <a:lnTo>
                    <a:pt x="20675" y="293011"/>
                  </a:lnTo>
                  <a:cubicBezTo>
                    <a:pt x="15191" y="293011"/>
                    <a:pt x="9933" y="290833"/>
                    <a:pt x="6055" y="286956"/>
                  </a:cubicBezTo>
                  <a:cubicBezTo>
                    <a:pt x="2178" y="283078"/>
                    <a:pt x="0" y="277820"/>
                    <a:pt x="0" y="272336"/>
                  </a:cubicBezTo>
                  <a:lnTo>
                    <a:pt x="0" y="20675"/>
                  </a:lnTo>
                  <a:cubicBezTo>
                    <a:pt x="0" y="15191"/>
                    <a:pt x="2178" y="9933"/>
                    <a:pt x="6055" y="6055"/>
                  </a:cubicBezTo>
                  <a:cubicBezTo>
                    <a:pt x="9933" y="2178"/>
                    <a:pt x="15191" y="0"/>
                    <a:pt x="20675" y="0"/>
                  </a:cubicBezTo>
                  <a:close/>
                </a:path>
              </a:pathLst>
            </a:custGeom>
            <a:solidFill>
              <a:srgbClr val="202127"/>
            </a:solidFill>
          </p:spPr>
          <p:txBody>
            <a:bodyPr/>
            <a:lstStyle/>
            <a:p>
              <a:endParaRPr lang="en-US"/>
            </a:p>
          </p:txBody>
        </p:sp>
        <p:sp>
          <p:nvSpPr>
            <p:cNvPr id="21" name="TextBox 21"/>
            <p:cNvSpPr txBox="1"/>
            <p:nvPr/>
          </p:nvSpPr>
          <p:spPr>
            <a:xfrm>
              <a:off x="0" y="19050"/>
              <a:ext cx="2051372" cy="273961"/>
            </a:xfrm>
            <a:prstGeom prst="rect">
              <a:avLst/>
            </a:prstGeom>
          </p:spPr>
          <p:txBody>
            <a:bodyPr lIns="50800" tIns="50800" rIns="50800" bIns="50800" rtlCol="0" anchor="ctr"/>
            <a:lstStyle/>
            <a:p>
              <a:pPr algn="ctr">
                <a:lnSpc>
                  <a:spcPts val="1387"/>
                </a:lnSpc>
              </a:pPr>
              <a:endParaRPr/>
            </a:p>
          </p:txBody>
        </p:sp>
      </p:grpSp>
      <p:grpSp>
        <p:nvGrpSpPr>
          <p:cNvPr id="22" name="Group 22"/>
          <p:cNvGrpSpPr/>
          <p:nvPr/>
        </p:nvGrpSpPr>
        <p:grpSpPr>
          <a:xfrm>
            <a:off x="8501894" y="7785197"/>
            <a:ext cx="7863755" cy="1123232"/>
            <a:chOff x="0" y="0"/>
            <a:chExt cx="2051372" cy="293011"/>
          </a:xfrm>
        </p:grpSpPr>
        <p:sp>
          <p:nvSpPr>
            <p:cNvPr id="23" name="Freeform 23"/>
            <p:cNvSpPr/>
            <p:nvPr/>
          </p:nvSpPr>
          <p:spPr>
            <a:xfrm>
              <a:off x="0" y="0"/>
              <a:ext cx="2051372" cy="293011"/>
            </a:xfrm>
            <a:custGeom>
              <a:avLst/>
              <a:gdLst/>
              <a:ahLst/>
              <a:cxnLst/>
              <a:rect l="l" t="t" r="r" b="b"/>
              <a:pathLst>
                <a:path w="2051372" h="293011">
                  <a:moveTo>
                    <a:pt x="20675" y="0"/>
                  </a:moveTo>
                  <a:lnTo>
                    <a:pt x="2030698" y="0"/>
                  </a:lnTo>
                  <a:cubicBezTo>
                    <a:pt x="2036181" y="0"/>
                    <a:pt x="2041440" y="2178"/>
                    <a:pt x="2045317" y="6055"/>
                  </a:cubicBezTo>
                  <a:cubicBezTo>
                    <a:pt x="2049194" y="9933"/>
                    <a:pt x="2051372" y="15191"/>
                    <a:pt x="2051372" y="20675"/>
                  </a:cubicBezTo>
                  <a:lnTo>
                    <a:pt x="2051372" y="272336"/>
                  </a:lnTo>
                  <a:cubicBezTo>
                    <a:pt x="2051372" y="283755"/>
                    <a:pt x="2042116" y="293011"/>
                    <a:pt x="2030698" y="293011"/>
                  </a:cubicBezTo>
                  <a:lnTo>
                    <a:pt x="20675" y="293011"/>
                  </a:lnTo>
                  <a:cubicBezTo>
                    <a:pt x="15191" y="293011"/>
                    <a:pt x="9933" y="290833"/>
                    <a:pt x="6055" y="286956"/>
                  </a:cubicBezTo>
                  <a:cubicBezTo>
                    <a:pt x="2178" y="283078"/>
                    <a:pt x="0" y="277820"/>
                    <a:pt x="0" y="272336"/>
                  </a:cubicBezTo>
                  <a:lnTo>
                    <a:pt x="0" y="20675"/>
                  </a:lnTo>
                  <a:cubicBezTo>
                    <a:pt x="0" y="15191"/>
                    <a:pt x="2178" y="9933"/>
                    <a:pt x="6055" y="6055"/>
                  </a:cubicBezTo>
                  <a:cubicBezTo>
                    <a:pt x="9933" y="2178"/>
                    <a:pt x="15191" y="0"/>
                    <a:pt x="20675" y="0"/>
                  </a:cubicBezTo>
                  <a:close/>
                </a:path>
              </a:pathLst>
            </a:custGeom>
            <a:solidFill>
              <a:srgbClr val="202127"/>
            </a:solidFill>
          </p:spPr>
          <p:txBody>
            <a:bodyPr/>
            <a:lstStyle/>
            <a:p>
              <a:endParaRPr lang="en-US"/>
            </a:p>
          </p:txBody>
        </p:sp>
        <p:sp>
          <p:nvSpPr>
            <p:cNvPr id="24" name="TextBox 24"/>
            <p:cNvSpPr txBox="1"/>
            <p:nvPr/>
          </p:nvSpPr>
          <p:spPr>
            <a:xfrm>
              <a:off x="0" y="19050"/>
              <a:ext cx="2051372" cy="273961"/>
            </a:xfrm>
            <a:prstGeom prst="rect">
              <a:avLst/>
            </a:prstGeom>
          </p:spPr>
          <p:txBody>
            <a:bodyPr lIns="50800" tIns="50800" rIns="50800" bIns="50800" rtlCol="0" anchor="ctr"/>
            <a:lstStyle/>
            <a:p>
              <a:pPr algn="ctr">
                <a:lnSpc>
                  <a:spcPts val="1387"/>
                </a:lnSpc>
              </a:pPr>
              <a:endParaRPr/>
            </a:p>
          </p:txBody>
        </p:sp>
      </p:grpSp>
      <p:sp>
        <p:nvSpPr>
          <p:cNvPr id="25" name="TextBox 25"/>
          <p:cNvSpPr txBox="1"/>
          <p:nvPr/>
        </p:nvSpPr>
        <p:spPr>
          <a:xfrm>
            <a:off x="9817238" y="1870665"/>
            <a:ext cx="3984830" cy="364026"/>
          </a:xfrm>
          <a:prstGeom prst="rect">
            <a:avLst/>
          </a:prstGeom>
        </p:spPr>
        <p:txBody>
          <a:bodyPr lIns="0" tIns="0" rIns="0" bIns="0" rtlCol="0" anchor="t">
            <a:spAutoFit/>
          </a:bodyPr>
          <a:lstStyle/>
          <a:p>
            <a:pPr algn="l">
              <a:lnSpc>
                <a:spcPts val="2313"/>
              </a:lnSpc>
            </a:pPr>
            <a:r>
              <a:rPr lang="en-US" sz="2629" b="1">
                <a:solidFill>
                  <a:srgbClr val="FFFFFF"/>
                </a:solidFill>
                <a:latin typeface="Arial MT Pro Bold"/>
                <a:ea typeface="Arial MT Pro Bold"/>
                <a:cs typeface="Arial MT Pro Bold"/>
                <a:sym typeface="Arial MT Pro Bold"/>
              </a:rPr>
              <a:t>Overview</a:t>
            </a:r>
          </a:p>
        </p:txBody>
      </p:sp>
      <p:sp>
        <p:nvSpPr>
          <p:cNvPr id="26" name="TextBox 26"/>
          <p:cNvSpPr txBox="1"/>
          <p:nvPr/>
        </p:nvSpPr>
        <p:spPr>
          <a:xfrm>
            <a:off x="9817238" y="3445379"/>
            <a:ext cx="4984144" cy="364026"/>
          </a:xfrm>
          <a:prstGeom prst="rect">
            <a:avLst/>
          </a:prstGeom>
        </p:spPr>
        <p:txBody>
          <a:bodyPr lIns="0" tIns="0" rIns="0" bIns="0" rtlCol="0" anchor="t">
            <a:spAutoFit/>
          </a:bodyPr>
          <a:lstStyle/>
          <a:p>
            <a:pPr algn="l">
              <a:lnSpc>
                <a:spcPts val="2313"/>
              </a:lnSpc>
            </a:pPr>
            <a:r>
              <a:rPr lang="en-US" sz="2629" b="1" spc="-13">
                <a:solidFill>
                  <a:srgbClr val="FFFFFF"/>
                </a:solidFill>
                <a:latin typeface="Arial MT Pro Bold"/>
                <a:ea typeface="Arial MT Pro Bold"/>
                <a:cs typeface="Arial MT Pro Bold"/>
                <a:sym typeface="Arial MT Pro Bold"/>
              </a:rPr>
              <a:t>Exploratory Data Analysis</a:t>
            </a:r>
          </a:p>
        </p:txBody>
      </p:sp>
      <p:sp>
        <p:nvSpPr>
          <p:cNvPr id="27" name="TextBox 27"/>
          <p:cNvSpPr txBox="1"/>
          <p:nvPr/>
        </p:nvSpPr>
        <p:spPr>
          <a:xfrm>
            <a:off x="2827442" y="6608138"/>
            <a:ext cx="4238502" cy="1847575"/>
          </a:xfrm>
          <a:prstGeom prst="rect">
            <a:avLst/>
          </a:prstGeom>
        </p:spPr>
        <p:txBody>
          <a:bodyPr lIns="0" tIns="0" rIns="0" bIns="0" rtlCol="0" anchor="t">
            <a:spAutoFit/>
          </a:bodyPr>
          <a:lstStyle/>
          <a:p>
            <a:pPr algn="l">
              <a:lnSpc>
                <a:spcPts val="6406"/>
              </a:lnSpc>
            </a:pPr>
            <a:r>
              <a:rPr lang="en-US" sz="7280" b="1" spc="-116">
                <a:solidFill>
                  <a:srgbClr val="27DDDF"/>
                </a:solidFill>
                <a:latin typeface="Arial MT Pro Bold"/>
                <a:ea typeface="Arial MT Pro Bold"/>
                <a:cs typeface="Arial MT Pro Bold"/>
                <a:sym typeface="Arial MT Pro Bold"/>
              </a:rPr>
              <a:t>Table of</a:t>
            </a:r>
          </a:p>
          <a:p>
            <a:pPr algn="l">
              <a:lnSpc>
                <a:spcPts val="6406"/>
              </a:lnSpc>
            </a:pPr>
            <a:r>
              <a:rPr lang="en-US" sz="7280" b="1" spc="-116">
                <a:solidFill>
                  <a:srgbClr val="27DDDF"/>
                </a:solidFill>
                <a:latin typeface="Arial MT Pro Bold"/>
                <a:ea typeface="Arial MT Pro Bold"/>
                <a:cs typeface="Arial MT Pro Bold"/>
                <a:sym typeface="Arial MT Pro Bold"/>
              </a:rPr>
              <a:t>content</a:t>
            </a:r>
          </a:p>
        </p:txBody>
      </p:sp>
      <p:sp>
        <p:nvSpPr>
          <p:cNvPr id="28" name="TextBox 28"/>
          <p:cNvSpPr txBox="1"/>
          <p:nvPr/>
        </p:nvSpPr>
        <p:spPr>
          <a:xfrm>
            <a:off x="9749650" y="5024820"/>
            <a:ext cx="5805124" cy="364026"/>
          </a:xfrm>
          <a:prstGeom prst="rect">
            <a:avLst/>
          </a:prstGeom>
        </p:spPr>
        <p:txBody>
          <a:bodyPr lIns="0" tIns="0" rIns="0" bIns="0" rtlCol="0" anchor="t">
            <a:spAutoFit/>
          </a:bodyPr>
          <a:lstStyle/>
          <a:p>
            <a:pPr algn="l">
              <a:lnSpc>
                <a:spcPts val="2313"/>
              </a:lnSpc>
            </a:pPr>
            <a:r>
              <a:rPr lang="en-US" sz="2629" b="1" spc="-13">
                <a:solidFill>
                  <a:srgbClr val="FFFFFF"/>
                </a:solidFill>
                <a:latin typeface="Arial MT Pro Bold"/>
                <a:ea typeface="Arial MT Pro Bold"/>
                <a:cs typeface="Arial MT Pro Bold"/>
                <a:sym typeface="Arial MT Pro Bold"/>
              </a:rPr>
              <a:t>Forecasting Summary &amp; Insights</a:t>
            </a:r>
          </a:p>
        </p:txBody>
      </p:sp>
      <p:sp>
        <p:nvSpPr>
          <p:cNvPr id="29" name="TextBox 29"/>
          <p:cNvSpPr txBox="1"/>
          <p:nvPr/>
        </p:nvSpPr>
        <p:spPr>
          <a:xfrm>
            <a:off x="9749650" y="6642706"/>
            <a:ext cx="6740553" cy="364026"/>
          </a:xfrm>
          <a:prstGeom prst="rect">
            <a:avLst/>
          </a:prstGeom>
        </p:spPr>
        <p:txBody>
          <a:bodyPr lIns="0" tIns="0" rIns="0" bIns="0" rtlCol="0" anchor="t">
            <a:spAutoFit/>
          </a:bodyPr>
          <a:lstStyle/>
          <a:p>
            <a:pPr algn="l">
              <a:lnSpc>
                <a:spcPts val="2313"/>
              </a:lnSpc>
            </a:pPr>
            <a:r>
              <a:rPr lang="en-US" sz="2629" b="1" spc="-13">
                <a:solidFill>
                  <a:srgbClr val="FFFFFF"/>
                </a:solidFill>
                <a:latin typeface="Arial MT Pro Bold"/>
                <a:ea typeface="Arial MT Pro Bold"/>
                <a:cs typeface="Arial MT Pro Bold"/>
                <a:sym typeface="Arial MT Pro Bold"/>
              </a:rPr>
              <a:t>Classification Model and Predictions</a:t>
            </a:r>
          </a:p>
        </p:txBody>
      </p:sp>
      <p:sp>
        <p:nvSpPr>
          <p:cNvPr id="30" name="TextBox 30"/>
          <p:cNvSpPr txBox="1"/>
          <p:nvPr/>
        </p:nvSpPr>
        <p:spPr>
          <a:xfrm>
            <a:off x="9749650" y="8165988"/>
            <a:ext cx="3984830" cy="364026"/>
          </a:xfrm>
          <a:prstGeom prst="rect">
            <a:avLst/>
          </a:prstGeom>
        </p:spPr>
        <p:txBody>
          <a:bodyPr lIns="0" tIns="0" rIns="0" bIns="0" rtlCol="0" anchor="t">
            <a:spAutoFit/>
          </a:bodyPr>
          <a:lstStyle/>
          <a:p>
            <a:pPr algn="l">
              <a:lnSpc>
                <a:spcPts val="2313"/>
              </a:lnSpc>
            </a:pPr>
            <a:r>
              <a:rPr lang="en-US" sz="2629" b="1">
                <a:solidFill>
                  <a:srgbClr val="FFFFFF"/>
                </a:solidFill>
                <a:latin typeface="Arial MT Pro Bold"/>
                <a:ea typeface="Arial MT Pro Bold"/>
                <a:cs typeface="Arial MT Pro Bold"/>
                <a:sym typeface="Arial MT Pro Bold"/>
              </a:rPr>
              <a:t>Conclusion</a:t>
            </a:r>
          </a:p>
        </p:txBody>
      </p:sp>
      <p:grpSp>
        <p:nvGrpSpPr>
          <p:cNvPr id="31" name="Group 31"/>
          <p:cNvGrpSpPr/>
          <p:nvPr/>
        </p:nvGrpSpPr>
        <p:grpSpPr>
          <a:xfrm>
            <a:off x="8501894" y="1445424"/>
            <a:ext cx="848962" cy="1123232"/>
            <a:chOff x="0" y="0"/>
            <a:chExt cx="221464" cy="293011"/>
          </a:xfrm>
        </p:grpSpPr>
        <p:sp>
          <p:nvSpPr>
            <p:cNvPr id="32" name="Freeform 32"/>
            <p:cNvSpPr/>
            <p:nvPr/>
          </p:nvSpPr>
          <p:spPr>
            <a:xfrm>
              <a:off x="0" y="0"/>
              <a:ext cx="221464" cy="293011"/>
            </a:xfrm>
            <a:custGeom>
              <a:avLst/>
              <a:gdLst/>
              <a:ahLst/>
              <a:cxnLst/>
              <a:rect l="l" t="t" r="r" b="b"/>
              <a:pathLst>
                <a:path w="221464" h="293011">
                  <a:moveTo>
                    <a:pt x="110732" y="0"/>
                  </a:moveTo>
                  <a:lnTo>
                    <a:pt x="110732" y="0"/>
                  </a:lnTo>
                  <a:cubicBezTo>
                    <a:pt x="140100" y="0"/>
                    <a:pt x="168265" y="11666"/>
                    <a:pt x="189031" y="32433"/>
                  </a:cubicBezTo>
                  <a:cubicBezTo>
                    <a:pt x="209797" y="53199"/>
                    <a:pt x="221464" y="81364"/>
                    <a:pt x="221464" y="110732"/>
                  </a:cubicBezTo>
                  <a:lnTo>
                    <a:pt x="221464" y="182279"/>
                  </a:lnTo>
                  <a:cubicBezTo>
                    <a:pt x="221464" y="211647"/>
                    <a:pt x="209797" y="239812"/>
                    <a:pt x="189031" y="260578"/>
                  </a:cubicBezTo>
                  <a:cubicBezTo>
                    <a:pt x="168265" y="281345"/>
                    <a:pt x="140100" y="293011"/>
                    <a:pt x="110732" y="293011"/>
                  </a:cubicBezTo>
                  <a:lnTo>
                    <a:pt x="110732" y="293011"/>
                  </a:lnTo>
                  <a:cubicBezTo>
                    <a:pt x="81364" y="293011"/>
                    <a:pt x="53199" y="281345"/>
                    <a:pt x="32433" y="260578"/>
                  </a:cubicBezTo>
                  <a:cubicBezTo>
                    <a:pt x="11666" y="239812"/>
                    <a:pt x="0" y="211647"/>
                    <a:pt x="0" y="182279"/>
                  </a:cubicBezTo>
                  <a:lnTo>
                    <a:pt x="0" y="110732"/>
                  </a:lnTo>
                  <a:cubicBezTo>
                    <a:pt x="0" y="81364"/>
                    <a:pt x="11666" y="53199"/>
                    <a:pt x="32433" y="32433"/>
                  </a:cubicBezTo>
                  <a:cubicBezTo>
                    <a:pt x="53199" y="11666"/>
                    <a:pt x="81364" y="0"/>
                    <a:pt x="110732" y="0"/>
                  </a:cubicBez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33" name="TextBox 33"/>
            <p:cNvSpPr txBox="1"/>
            <p:nvPr/>
          </p:nvSpPr>
          <p:spPr>
            <a:xfrm>
              <a:off x="0" y="28575"/>
              <a:ext cx="221464" cy="264436"/>
            </a:xfrm>
            <a:prstGeom prst="rect">
              <a:avLst/>
            </a:prstGeom>
          </p:spPr>
          <p:txBody>
            <a:bodyPr lIns="50800" tIns="50800" rIns="50800" bIns="50800" rtlCol="0" anchor="ctr"/>
            <a:lstStyle/>
            <a:p>
              <a:pPr algn="ctr">
                <a:lnSpc>
                  <a:spcPts val="2640"/>
                </a:lnSpc>
              </a:pPr>
              <a:r>
                <a:rPr lang="en-US" sz="3000" b="1">
                  <a:solidFill>
                    <a:srgbClr val="FFFFFF"/>
                  </a:solidFill>
                  <a:latin typeface="Arial MT Pro Bold"/>
                  <a:ea typeface="Arial MT Pro Bold"/>
                  <a:cs typeface="Arial MT Pro Bold"/>
                  <a:sym typeface="Arial MT Pro Bold"/>
                </a:rPr>
                <a:t>1</a:t>
              </a:r>
            </a:p>
          </p:txBody>
        </p:sp>
      </p:grpSp>
      <p:grpSp>
        <p:nvGrpSpPr>
          <p:cNvPr id="34" name="Group 34"/>
          <p:cNvGrpSpPr/>
          <p:nvPr/>
        </p:nvGrpSpPr>
        <p:grpSpPr>
          <a:xfrm>
            <a:off x="8501894" y="3051601"/>
            <a:ext cx="848962" cy="1123232"/>
            <a:chOff x="0" y="0"/>
            <a:chExt cx="221464" cy="293011"/>
          </a:xfrm>
        </p:grpSpPr>
        <p:sp>
          <p:nvSpPr>
            <p:cNvPr id="35" name="Freeform 35"/>
            <p:cNvSpPr/>
            <p:nvPr/>
          </p:nvSpPr>
          <p:spPr>
            <a:xfrm>
              <a:off x="0" y="0"/>
              <a:ext cx="221464" cy="293011"/>
            </a:xfrm>
            <a:custGeom>
              <a:avLst/>
              <a:gdLst/>
              <a:ahLst/>
              <a:cxnLst/>
              <a:rect l="l" t="t" r="r" b="b"/>
              <a:pathLst>
                <a:path w="221464" h="293011">
                  <a:moveTo>
                    <a:pt x="110732" y="0"/>
                  </a:moveTo>
                  <a:lnTo>
                    <a:pt x="110732" y="0"/>
                  </a:lnTo>
                  <a:cubicBezTo>
                    <a:pt x="140100" y="0"/>
                    <a:pt x="168265" y="11666"/>
                    <a:pt x="189031" y="32433"/>
                  </a:cubicBezTo>
                  <a:cubicBezTo>
                    <a:pt x="209797" y="53199"/>
                    <a:pt x="221464" y="81364"/>
                    <a:pt x="221464" y="110732"/>
                  </a:cubicBezTo>
                  <a:lnTo>
                    <a:pt x="221464" y="182279"/>
                  </a:lnTo>
                  <a:cubicBezTo>
                    <a:pt x="221464" y="211647"/>
                    <a:pt x="209797" y="239812"/>
                    <a:pt x="189031" y="260578"/>
                  </a:cubicBezTo>
                  <a:cubicBezTo>
                    <a:pt x="168265" y="281345"/>
                    <a:pt x="140100" y="293011"/>
                    <a:pt x="110732" y="293011"/>
                  </a:cubicBezTo>
                  <a:lnTo>
                    <a:pt x="110732" y="293011"/>
                  </a:lnTo>
                  <a:cubicBezTo>
                    <a:pt x="81364" y="293011"/>
                    <a:pt x="53199" y="281345"/>
                    <a:pt x="32433" y="260578"/>
                  </a:cubicBezTo>
                  <a:cubicBezTo>
                    <a:pt x="11666" y="239812"/>
                    <a:pt x="0" y="211647"/>
                    <a:pt x="0" y="182279"/>
                  </a:cubicBezTo>
                  <a:lnTo>
                    <a:pt x="0" y="110732"/>
                  </a:lnTo>
                  <a:cubicBezTo>
                    <a:pt x="0" y="81364"/>
                    <a:pt x="11666" y="53199"/>
                    <a:pt x="32433" y="32433"/>
                  </a:cubicBezTo>
                  <a:cubicBezTo>
                    <a:pt x="53199" y="11666"/>
                    <a:pt x="81364" y="0"/>
                    <a:pt x="110732" y="0"/>
                  </a:cubicBez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36" name="TextBox 36"/>
            <p:cNvSpPr txBox="1"/>
            <p:nvPr/>
          </p:nvSpPr>
          <p:spPr>
            <a:xfrm>
              <a:off x="0" y="28575"/>
              <a:ext cx="221464" cy="264436"/>
            </a:xfrm>
            <a:prstGeom prst="rect">
              <a:avLst/>
            </a:prstGeom>
          </p:spPr>
          <p:txBody>
            <a:bodyPr lIns="50800" tIns="50800" rIns="50800" bIns="50800" rtlCol="0" anchor="ctr"/>
            <a:lstStyle/>
            <a:p>
              <a:pPr algn="ctr">
                <a:lnSpc>
                  <a:spcPts val="2640"/>
                </a:lnSpc>
              </a:pPr>
              <a:r>
                <a:rPr lang="en-US" sz="3000" b="1">
                  <a:solidFill>
                    <a:srgbClr val="FFFFFF"/>
                  </a:solidFill>
                  <a:latin typeface="Arial MT Pro Bold"/>
                  <a:ea typeface="Arial MT Pro Bold"/>
                  <a:cs typeface="Arial MT Pro Bold"/>
                  <a:sym typeface="Arial MT Pro Bold"/>
                </a:rPr>
                <a:t>2</a:t>
              </a:r>
            </a:p>
          </p:txBody>
        </p:sp>
      </p:grpSp>
      <p:grpSp>
        <p:nvGrpSpPr>
          <p:cNvPr id="37" name="Group 37"/>
          <p:cNvGrpSpPr/>
          <p:nvPr/>
        </p:nvGrpSpPr>
        <p:grpSpPr>
          <a:xfrm>
            <a:off x="8501894" y="4581884"/>
            <a:ext cx="848962" cy="1123232"/>
            <a:chOff x="0" y="0"/>
            <a:chExt cx="221464" cy="293011"/>
          </a:xfrm>
        </p:grpSpPr>
        <p:sp>
          <p:nvSpPr>
            <p:cNvPr id="38" name="Freeform 38"/>
            <p:cNvSpPr/>
            <p:nvPr/>
          </p:nvSpPr>
          <p:spPr>
            <a:xfrm>
              <a:off x="0" y="0"/>
              <a:ext cx="221464" cy="293011"/>
            </a:xfrm>
            <a:custGeom>
              <a:avLst/>
              <a:gdLst/>
              <a:ahLst/>
              <a:cxnLst/>
              <a:rect l="l" t="t" r="r" b="b"/>
              <a:pathLst>
                <a:path w="221464" h="293011">
                  <a:moveTo>
                    <a:pt x="110732" y="0"/>
                  </a:moveTo>
                  <a:lnTo>
                    <a:pt x="110732" y="0"/>
                  </a:lnTo>
                  <a:cubicBezTo>
                    <a:pt x="140100" y="0"/>
                    <a:pt x="168265" y="11666"/>
                    <a:pt x="189031" y="32433"/>
                  </a:cubicBezTo>
                  <a:cubicBezTo>
                    <a:pt x="209797" y="53199"/>
                    <a:pt x="221464" y="81364"/>
                    <a:pt x="221464" y="110732"/>
                  </a:cubicBezTo>
                  <a:lnTo>
                    <a:pt x="221464" y="182279"/>
                  </a:lnTo>
                  <a:cubicBezTo>
                    <a:pt x="221464" y="211647"/>
                    <a:pt x="209797" y="239812"/>
                    <a:pt x="189031" y="260578"/>
                  </a:cubicBezTo>
                  <a:cubicBezTo>
                    <a:pt x="168265" y="281345"/>
                    <a:pt x="140100" y="293011"/>
                    <a:pt x="110732" y="293011"/>
                  </a:cubicBezTo>
                  <a:lnTo>
                    <a:pt x="110732" y="293011"/>
                  </a:lnTo>
                  <a:cubicBezTo>
                    <a:pt x="81364" y="293011"/>
                    <a:pt x="53199" y="281345"/>
                    <a:pt x="32433" y="260578"/>
                  </a:cubicBezTo>
                  <a:cubicBezTo>
                    <a:pt x="11666" y="239812"/>
                    <a:pt x="0" y="211647"/>
                    <a:pt x="0" y="182279"/>
                  </a:cubicBezTo>
                  <a:lnTo>
                    <a:pt x="0" y="110732"/>
                  </a:lnTo>
                  <a:cubicBezTo>
                    <a:pt x="0" y="81364"/>
                    <a:pt x="11666" y="53199"/>
                    <a:pt x="32433" y="32433"/>
                  </a:cubicBezTo>
                  <a:cubicBezTo>
                    <a:pt x="53199" y="11666"/>
                    <a:pt x="81364" y="0"/>
                    <a:pt x="110732" y="0"/>
                  </a:cubicBez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39" name="TextBox 39"/>
            <p:cNvSpPr txBox="1"/>
            <p:nvPr/>
          </p:nvSpPr>
          <p:spPr>
            <a:xfrm>
              <a:off x="0" y="28575"/>
              <a:ext cx="221464" cy="264436"/>
            </a:xfrm>
            <a:prstGeom prst="rect">
              <a:avLst/>
            </a:prstGeom>
          </p:spPr>
          <p:txBody>
            <a:bodyPr lIns="50800" tIns="50800" rIns="50800" bIns="50800" rtlCol="0" anchor="ctr"/>
            <a:lstStyle/>
            <a:p>
              <a:pPr algn="ctr">
                <a:lnSpc>
                  <a:spcPts val="2640"/>
                </a:lnSpc>
              </a:pPr>
              <a:r>
                <a:rPr lang="en-US" sz="3000" b="1">
                  <a:solidFill>
                    <a:srgbClr val="FFFFFF"/>
                  </a:solidFill>
                  <a:latin typeface="Arial MT Pro Bold"/>
                  <a:ea typeface="Arial MT Pro Bold"/>
                  <a:cs typeface="Arial MT Pro Bold"/>
                  <a:sym typeface="Arial MT Pro Bold"/>
                </a:rPr>
                <a:t>3</a:t>
              </a:r>
            </a:p>
          </p:txBody>
        </p:sp>
      </p:grpSp>
      <p:grpSp>
        <p:nvGrpSpPr>
          <p:cNvPr id="40" name="Group 40"/>
          <p:cNvGrpSpPr/>
          <p:nvPr/>
        </p:nvGrpSpPr>
        <p:grpSpPr>
          <a:xfrm>
            <a:off x="8501894" y="6248927"/>
            <a:ext cx="848962" cy="1123232"/>
            <a:chOff x="0" y="0"/>
            <a:chExt cx="221464" cy="293011"/>
          </a:xfrm>
        </p:grpSpPr>
        <p:sp>
          <p:nvSpPr>
            <p:cNvPr id="41" name="Freeform 41"/>
            <p:cNvSpPr/>
            <p:nvPr/>
          </p:nvSpPr>
          <p:spPr>
            <a:xfrm>
              <a:off x="0" y="0"/>
              <a:ext cx="221464" cy="293011"/>
            </a:xfrm>
            <a:custGeom>
              <a:avLst/>
              <a:gdLst/>
              <a:ahLst/>
              <a:cxnLst/>
              <a:rect l="l" t="t" r="r" b="b"/>
              <a:pathLst>
                <a:path w="221464" h="293011">
                  <a:moveTo>
                    <a:pt x="110732" y="0"/>
                  </a:moveTo>
                  <a:lnTo>
                    <a:pt x="110732" y="0"/>
                  </a:lnTo>
                  <a:cubicBezTo>
                    <a:pt x="140100" y="0"/>
                    <a:pt x="168265" y="11666"/>
                    <a:pt x="189031" y="32433"/>
                  </a:cubicBezTo>
                  <a:cubicBezTo>
                    <a:pt x="209797" y="53199"/>
                    <a:pt x="221464" y="81364"/>
                    <a:pt x="221464" y="110732"/>
                  </a:cubicBezTo>
                  <a:lnTo>
                    <a:pt x="221464" y="182279"/>
                  </a:lnTo>
                  <a:cubicBezTo>
                    <a:pt x="221464" y="211647"/>
                    <a:pt x="209797" y="239812"/>
                    <a:pt x="189031" y="260578"/>
                  </a:cubicBezTo>
                  <a:cubicBezTo>
                    <a:pt x="168265" y="281345"/>
                    <a:pt x="140100" y="293011"/>
                    <a:pt x="110732" y="293011"/>
                  </a:cubicBezTo>
                  <a:lnTo>
                    <a:pt x="110732" y="293011"/>
                  </a:lnTo>
                  <a:cubicBezTo>
                    <a:pt x="81364" y="293011"/>
                    <a:pt x="53199" y="281345"/>
                    <a:pt x="32433" y="260578"/>
                  </a:cubicBezTo>
                  <a:cubicBezTo>
                    <a:pt x="11666" y="239812"/>
                    <a:pt x="0" y="211647"/>
                    <a:pt x="0" y="182279"/>
                  </a:cubicBezTo>
                  <a:lnTo>
                    <a:pt x="0" y="110732"/>
                  </a:lnTo>
                  <a:cubicBezTo>
                    <a:pt x="0" y="81364"/>
                    <a:pt x="11666" y="53199"/>
                    <a:pt x="32433" y="32433"/>
                  </a:cubicBezTo>
                  <a:cubicBezTo>
                    <a:pt x="53199" y="11666"/>
                    <a:pt x="81364" y="0"/>
                    <a:pt x="110732" y="0"/>
                  </a:cubicBez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42" name="TextBox 42"/>
            <p:cNvSpPr txBox="1"/>
            <p:nvPr/>
          </p:nvSpPr>
          <p:spPr>
            <a:xfrm>
              <a:off x="0" y="28575"/>
              <a:ext cx="221464" cy="264436"/>
            </a:xfrm>
            <a:prstGeom prst="rect">
              <a:avLst/>
            </a:prstGeom>
          </p:spPr>
          <p:txBody>
            <a:bodyPr lIns="50800" tIns="50800" rIns="50800" bIns="50800" rtlCol="0" anchor="ctr"/>
            <a:lstStyle/>
            <a:p>
              <a:pPr algn="ctr">
                <a:lnSpc>
                  <a:spcPts val="2640"/>
                </a:lnSpc>
              </a:pPr>
              <a:r>
                <a:rPr lang="en-US" sz="3000" b="1">
                  <a:solidFill>
                    <a:srgbClr val="FFFFFF"/>
                  </a:solidFill>
                  <a:latin typeface="Arial MT Pro Bold"/>
                  <a:ea typeface="Arial MT Pro Bold"/>
                  <a:cs typeface="Arial MT Pro Bold"/>
                  <a:sym typeface="Arial MT Pro Bold"/>
                </a:rPr>
                <a:t>4</a:t>
              </a:r>
            </a:p>
          </p:txBody>
        </p:sp>
      </p:grpSp>
      <p:grpSp>
        <p:nvGrpSpPr>
          <p:cNvPr id="43" name="Group 43"/>
          <p:cNvGrpSpPr/>
          <p:nvPr/>
        </p:nvGrpSpPr>
        <p:grpSpPr>
          <a:xfrm>
            <a:off x="8501894" y="7772209"/>
            <a:ext cx="848962" cy="1123232"/>
            <a:chOff x="0" y="0"/>
            <a:chExt cx="221464" cy="293011"/>
          </a:xfrm>
        </p:grpSpPr>
        <p:sp>
          <p:nvSpPr>
            <p:cNvPr id="44" name="Freeform 44"/>
            <p:cNvSpPr/>
            <p:nvPr/>
          </p:nvSpPr>
          <p:spPr>
            <a:xfrm>
              <a:off x="0" y="0"/>
              <a:ext cx="221464" cy="293011"/>
            </a:xfrm>
            <a:custGeom>
              <a:avLst/>
              <a:gdLst/>
              <a:ahLst/>
              <a:cxnLst/>
              <a:rect l="l" t="t" r="r" b="b"/>
              <a:pathLst>
                <a:path w="221464" h="293011">
                  <a:moveTo>
                    <a:pt x="110732" y="0"/>
                  </a:moveTo>
                  <a:lnTo>
                    <a:pt x="110732" y="0"/>
                  </a:lnTo>
                  <a:cubicBezTo>
                    <a:pt x="140100" y="0"/>
                    <a:pt x="168265" y="11666"/>
                    <a:pt x="189031" y="32433"/>
                  </a:cubicBezTo>
                  <a:cubicBezTo>
                    <a:pt x="209797" y="53199"/>
                    <a:pt x="221464" y="81364"/>
                    <a:pt x="221464" y="110732"/>
                  </a:cubicBezTo>
                  <a:lnTo>
                    <a:pt x="221464" y="182279"/>
                  </a:lnTo>
                  <a:cubicBezTo>
                    <a:pt x="221464" y="211647"/>
                    <a:pt x="209797" y="239812"/>
                    <a:pt x="189031" y="260578"/>
                  </a:cubicBezTo>
                  <a:cubicBezTo>
                    <a:pt x="168265" y="281345"/>
                    <a:pt x="140100" y="293011"/>
                    <a:pt x="110732" y="293011"/>
                  </a:cubicBezTo>
                  <a:lnTo>
                    <a:pt x="110732" y="293011"/>
                  </a:lnTo>
                  <a:cubicBezTo>
                    <a:pt x="81364" y="293011"/>
                    <a:pt x="53199" y="281345"/>
                    <a:pt x="32433" y="260578"/>
                  </a:cubicBezTo>
                  <a:cubicBezTo>
                    <a:pt x="11666" y="239812"/>
                    <a:pt x="0" y="211647"/>
                    <a:pt x="0" y="182279"/>
                  </a:cubicBezTo>
                  <a:lnTo>
                    <a:pt x="0" y="110732"/>
                  </a:lnTo>
                  <a:cubicBezTo>
                    <a:pt x="0" y="81364"/>
                    <a:pt x="11666" y="53199"/>
                    <a:pt x="32433" y="32433"/>
                  </a:cubicBezTo>
                  <a:cubicBezTo>
                    <a:pt x="53199" y="11666"/>
                    <a:pt x="81364" y="0"/>
                    <a:pt x="110732" y="0"/>
                  </a:cubicBez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45" name="TextBox 45"/>
            <p:cNvSpPr txBox="1"/>
            <p:nvPr/>
          </p:nvSpPr>
          <p:spPr>
            <a:xfrm>
              <a:off x="0" y="28575"/>
              <a:ext cx="221464" cy="264436"/>
            </a:xfrm>
            <a:prstGeom prst="rect">
              <a:avLst/>
            </a:prstGeom>
          </p:spPr>
          <p:txBody>
            <a:bodyPr lIns="50800" tIns="50800" rIns="50800" bIns="50800" rtlCol="0" anchor="ctr"/>
            <a:lstStyle/>
            <a:p>
              <a:pPr algn="ctr">
                <a:lnSpc>
                  <a:spcPts val="2640"/>
                </a:lnSpc>
              </a:pPr>
              <a:r>
                <a:rPr lang="en-US" sz="3000" b="1">
                  <a:solidFill>
                    <a:srgbClr val="FFFFFF"/>
                  </a:solidFill>
                  <a:latin typeface="Arial MT Pro Bold"/>
                  <a:ea typeface="Arial MT Pro Bold"/>
                  <a:cs typeface="Arial MT Pro Bold"/>
                  <a:sym typeface="Arial MT Pro Bold"/>
                </a:rPr>
                <a:t>5</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2" name="Group 2"/>
          <p:cNvGrpSpPr/>
          <p:nvPr/>
        </p:nvGrpSpPr>
        <p:grpSpPr>
          <a:xfrm>
            <a:off x="-1235334" y="2965026"/>
            <a:ext cx="9457763" cy="1129532"/>
            <a:chOff x="0" y="0"/>
            <a:chExt cx="2490933" cy="297490"/>
          </a:xfrm>
        </p:grpSpPr>
        <p:sp>
          <p:nvSpPr>
            <p:cNvPr id="3" name="Freeform 3"/>
            <p:cNvSpPr/>
            <p:nvPr/>
          </p:nvSpPr>
          <p:spPr>
            <a:xfrm>
              <a:off x="0" y="0"/>
              <a:ext cx="2490933" cy="297490"/>
            </a:xfrm>
            <a:custGeom>
              <a:avLst/>
              <a:gdLst/>
              <a:ahLst/>
              <a:cxnLst/>
              <a:rect l="l" t="t" r="r" b="b"/>
              <a:pathLst>
                <a:path w="2490933" h="297490">
                  <a:moveTo>
                    <a:pt x="0" y="0"/>
                  </a:moveTo>
                  <a:lnTo>
                    <a:pt x="2490933" y="0"/>
                  </a:lnTo>
                  <a:lnTo>
                    <a:pt x="2490933" y="297490"/>
                  </a:lnTo>
                  <a:lnTo>
                    <a:pt x="0" y="297490"/>
                  </a:lnTo>
                  <a:close/>
                </a:path>
              </a:pathLst>
            </a:custGeom>
            <a:gradFill rotWithShape="1">
              <a:gsLst>
                <a:gs pos="0">
                  <a:srgbClr val="141519">
                    <a:alpha val="100000"/>
                  </a:srgbClr>
                </a:gs>
                <a:gs pos="100000">
                  <a:srgbClr val="141519">
                    <a:alpha val="0"/>
                  </a:srgbClr>
                </a:gs>
              </a:gsLst>
              <a:lin ang="0"/>
            </a:gradFill>
          </p:spPr>
          <p:txBody>
            <a:bodyPr/>
            <a:lstStyle/>
            <a:p>
              <a:endParaRPr lang="en-US"/>
            </a:p>
          </p:txBody>
        </p:sp>
        <p:sp>
          <p:nvSpPr>
            <p:cNvPr id="4" name="TextBox 4"/>
            <p:cNvSpPr txBox="1"/>
            <p:nvPr/>
          </p:nvSpPr>
          <p:spPr>
            <a:xfrm>
              <a:off x="0" y="19050"/>
              <a:ext cx="2490933" cy="278440"/>
            </a:xfrm>
            <a:prstGeom prst="rect">
              <a:avLst/>
            </a:prstGeom>
          </p:spPr>
          <p:txBody>
            <a:bodyPr lIns="50800" tIns="50800" rIns="50800" bIns="50800" rtlCol="0" anchor="ctr"/>
            <a:lstStyle/>
            <a:p>
              <a:pPr algn="ctr">
                <a:lnSpc>
                  <a:spcPts val="1387"/>
                </a:lnSpc>
              </a:pPr>
              <a:endParaRPr/>
            </a:p>
          </p:txBody>
        </p:sp>
      </p:grpSp>
      <p:sp>
        <p:nvSpPr>
          <p:cNvPr id="5" name="TextBox 5"/>
          <p:cNvSpPr txBox="1"/>
          <p:nvPr/>
        </p:nvSpPr>
        <p:spPr>
          <a:xfrm>
            <a:off x="1781151" y="1989061"/>
            <a:ext cx="4888650" cy="1199782"/>
          </a:xfrm>
          <a:prstGeom prst="rect">
            <a:avLst/>
          </a:prstGeom>
        </p:spPr>
        <p:txBody>
          <a:bodyPr lIns="0" tIns="0" rIns="0" bIns="0" rtlCol="0" anchor="t">
            <a:spAutoFit/>
          </a:bodyPr>
          <a:lstStyle/>
          <a:p>
            <a:pPr algn="l">
              <a:lnSpc>
                <a:spcPts val="7775"/>
              </a:lnSpc>
            </a:pPr>
            <a:r>
              <a:rPr lang="en-US" sz="8015" b="1" spc="-128">
                <a:solidFill>
                  <a:srgbClr val="FFFFFF"/>
                </a:solidFill>
                <a:latin typeface="Arial MT Pro Bold"/>
                <a:ea typeface="Arial MT Pro Bold"/>
                <a:cs typeface="Arial MT Pro Bold"/>
                <a:sym typeface="Arial MT Pro Bold"/>
              </a:rPr>
              <a:t>Overview</a:t>
            </a:r>
          </a:p>
        </p:txBody>
      </p:sp>
      <p:sp>
        <p:nvSpPr>
          <p:cNvPr id="6" name="TextBox 6"/>
          <p:cNvSpPr txBox="1"/>
          <p:nvPr/>
        </p:nvSpPr>
        <p:spPr>
          <a:xfrm>
            <a:off x="1781151" y="3903961"/>
            <a:ext cx="14990968" cy="4716145"/>
          </a:xfrm>
          <a:prstGeom prst="rect">
            <a:avLst/>
          </a:prstGeom>
        </p:spPr>
        <p:txBody>
          <a:bodyPr lIns="0" tIns="0" rIns="0" bIns="0" rtlCol="0" anchor="t">
            <a:spAutoFit/>
          </a:bodyPr>
          <a:lstStyle/>
          <a:p>
            <a:pPr algn="just">
              <a:lnSpc>
                <a:spcPts val="3079"/>
              </a:lnSpc>
            </a:pPr>
            <a:r>
              <a:rPr lang="en-US" sz="2199" b="1">
                <a:solidFill>
                  <a:srgbClr val="FFFFFF"/>
                </a:solidFill>
                <a:latin typeface="Arial MT Pro Bold"/>
                <a:ea typeface="Arial MT Pro Bold"/>
                <a:cs typeface="Arial MT Pro Bold"/>
                <a:sym typeface="Arial MT Pro Bold"/>
              </a:rPr>
              <a:t>The purpose of this project is to assess the housing affordability landscape for DC public employees by combining two key datasets: the DC Public Employee Salary dataset and Zillow’s zip-code-level housing price data</a:t>
            </a:r>
          </a:p>
          <a:p>
            <a:pPr algn="just">
              <a:lnSpc>
                <a:spcPts val="3079"/>
              </a:lnSpc>
            </a:pPr>
            <a:endParaRPr lang="en-US" sz="2199" b="1">
              <a:solidFill>
                <a:srgbClr val="FFFFFF"/>
              </a:solidFill>
              <a:latin typeface="Arial MT Pro Bold"/>
              <a:ea typeface="Arial MT Pro Bold"/>
              <a:cs typeface="Arial MT Pro Bold"/>
              <a:sym typeface="Arial MT Pro Bold"/>
            </a:endParaRPr>
          </a:p>
          <a:p>
            <a:pPr algn="just">
              <a:lnSpc>
                <a:spcPts val="3079"/>
              </a:lnSpc>
            </a:pPr>
            <a:r>
              <a:rPr lang="en-US" sz="2199" b="1">
                <a:solidFill>
                  <a:srgbClr val="FFFFFF"/>
                </a:solidFill>
                <a:latin typeface="Arial MT Pro Bold"/>
                <a:ea typeface="Arial MT Pro Bold"/>
                <a:cs typeface="Arial MT Pro Bold"/>
                <a:sym typeface="Arial MT Pro Bold"/>
              </a:rPr>
              <a:t>Our work involved comprehensive data cleaning and standardization, exploratory data analysis to uncover salary and housing trends, and the development of both regression and classification models. </a:t>
            </a:r>
          </a:p>
          <a:p>
            <a:pPr algn="just">
              <a:lnSpc>
                <a:spcPts val="3079"/>
              </a:lnSpc>
            </a:pPr>
            <a:endParaRPr lang="en-US" sz="2199" b="1">
              <a:solidFill>
                <a:srgbClr val="FFFFFF"/>
              </a:solidFill>
              <a:latin typeface="Arial MT Pro Bold"/>
              <a:ea typeface="Arial MT Pro Bold"/>
              <a:cs typeface="Arial MT Pro Bold"/>
              <a:sym typeface="Arial MT Pro Bold"/>
            </a:endParaRPr>
          </a:p>
          <a:p>
            <a:pPr algn="just">
              <a:lnSpc>
                <a:spcPts val="3079"/>
              </a:lnSpc>
            </a:pPr>
            <a:r>
              <a:rPr lang="en-US" sz="2199" b="1">
                <a:solidFill>
                  <a:srgbClr val="FFFFFF"/>
                </a:solidFill>
                <a:latin typeface="Arial MT Pro Bold"/>
                <a:ea typeface="Arial MT Pro Bold"/>
                <a:cs typeface="Arial MT Pro Bold"/>
                <a:sym typeface="Arial MT Pro Bold"/>
              </a:rPr>
              <a:t>These models were used to forecast future housing prices and evaluate affordability across salary brackets and job classifications. The project ultimately highlights which groups are most likely to encounter affordability challenges in 2026–2027 and provides targeted recommendations for HR, compensation strategy, and policy-making.</a:t>
            </a:r>
          </a:p>
          <a:p>
            <a:pPr algn="just">
              <a:lnSpc>
                <a:spcPts val="3079"/>
              </a:lnSpc>
              <a:spcBef>
                <a:spcPct val="0"/>
              </a:spcBef>
            </a:pPr>
            <a:endParaRPr lang="en-US" sz="2199" b="1">
              <a:solidFill>
                <a:srgbClr val="FFFFFF"/>
              </a:solidFill>
              <a:latin typeface="Arial MT Pro Bold"/>
              <a:ea typeface="Arial MT Pro Bold"/>
              <a:cs typeface="Arial MT Pro Bold"/>
              <a:sym typeface="Arial MT Pro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sp>
        <p:nvSpPr>
          <p:cNvPr id="2" name="TextBox 2"/>
          <p:cNvSpPr txBox="1"/>
          <p:nvPr/>
        </p:nvSpPr>
        <p:spPr>
          <a:xfrm>
            <a:off x="5581204" y="4274503"/>
            <a:ext cx="7125593" cy="1566544"/>
          </a:xfrm>
          <a:prstGeom prst="rect">
            <a:avLst/>
          </a:prstGeom>
        </p:spPr>
        <p:txBody>
          <a:bodyPr lIns="0" tIns="0" rIns="0" bIns="0" rtlCol="0" anchor="t">
            <a:spAutoFit/>
          </a:bodyPr>
          <a:lstStyle/>
          <a:p>
            <a:pPr algn="ctr">
              <a:lnSpc>
                <a:spcPts val="12880"/>
              </a:lnSpc>
            </a:pPr>
            <a:r>
              <a:rPr lang="en-US" sz="9200" b="1" u="sng">
                <a:solidFill>
                  <a:srgbClr val="FFFFFF"/>
                </a:solidFill>
                <a:latin typeface="Canva Sans Bold"/>
                <a:ea typeface="Canva Sans Bold"/>
                <a:cs typeface="Canva Sans Bold"/>
                <a:sym typeface="Canva Sans Bold"/>
                <a:hlinkClick r:id="rId2" tooltip="https://oim-7502-final-project-n2dhtfua8ss2s2wtetgabw.streamlit.app"/>
              </a:rPr>
              <a:t>Streamlit UI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2" name="Group 2"/>
          <p:cNvGrpSpPr/>
          <p:nvPr/>
        </p:nvGrpSpPr>
        <p:grpSpPr>
          <a:xfrm>
            <a:off x="2054482" y="4344688"/>
            <a:ext cx="7089518" cy="4563741"/>
            <a:chOff x="0" y="0"/>
            <a:chExt cx="1867198" cy="1201973"/>
          </a:xfrm>
        </p:grpSpPr>
        <p:sp>
          <p:nvSpPr>
            <p:cNvPr id="3" name="Freeform 3"/>
            <p:cNvSpPr/>
            <p:nvPr/>
          </p:nvSpPr>
          <p:spPr>
            <a:xfrm>
              <a:off x="0" y="0"/>
              <a:ext cx="1867198" cy="1201973"/>
            </a:xfrm>
            <a:custGeom>
              <a:avLst/>
              <a:gdLst/>
              <a:ahLst/>
              <a:cxnLst/>
              <a:rect l="l" t="t" r="r" b="b"/>
              <a:pathLst>
                <a:path w="1867198" h="1201973">
                  <a:moveTo>
                    <a:pt x="41497" y="0"/>
                  </a:moveTo>
                  <a:lnTo>
                    <a:pt x="1825701" y="0"/>
                  </a:lnTo>
                  <a:cubicBezTo>
                    <a:pt x="1836707" y="0"/>
                    <a:pt x="1847262" y="4372"/>
                    <a:pt x="1855044" y="12154"/>
                  </a:cubicBezTo>
                  <a:cubicBezTo>
                    <a:pt x="1862826" y="19936"/>
                    <a:pt x="1867198" y="30491"/>
                    <a:pt x="1867198" y="41497"/>
                  </a:cubicBezTo>
                  <a:lnTo>
                    <a:pt x="1867198" y="1160476"/>
                  </a:lnTo>
                  <a:cubicBezTo>
                    <a:pt x="1867198" y="1183394"/>
                    <a:pt x="1848620" y="1201973"/>
                    <a:pt x="1825701" y="1201973"/>
                  </a:cubicBezTo>
                  <a:lnTo>
                    <a:pt x="41497" y="1201973"/>
                  </a:lnTo>
                  <a:cubicBezTo>
                    <a:pt x="18579" y="1201973"/>
                    <a:pt x="0" y="1183394"/>
                    <a:pt x="0" y="1160476"/>
                  </a:cubicBezTo>
                  <a:lnTo>
                    <a:pt x="0" y="41497"/>
                  </a:lnTo>
                  <a:cubicBezTo>
                    <a:pt x="0" y="30491"/>
                    <a:pt x="4372" y="19936"/>
                    <a:pt x="12154" y="12154"/>
                  </a:cubicBezTo>
                  <a:cubicBezTo>
                    <a:pt x="19936" y="4372"/>
                    <a:pt x="30491" y="0"/>
                    <a:pt x="41497" y="0"/>
                  </a:cubicBezTo>
                  <a:close/>
                </a:path>
              </a:pathLst>
            </a:custGeom>
            <a:solidFill>
              <a:srgbClr val="202127"/>
            </a:solidFill>
          </p:spPr>
          <p:txBody>
            <a:bodyPr/>
            <a:lstStyle/>
            <a:p>
              <a:endParaRPr lang="en-US"/>
            </a:p>
          </p:txBody>
        </p:sp>
        <p:sp>
          <p:nvSpPr>
            <p:cNvPr id="4" name="TextBox 4"/>
            <p:cNvSpPr txBox="1"/>
            <p:nvPr/>
          </p:nvSpPr>
          <p:spPr>
            <a:xfrm>
              <a:off x="0" y="19050"/>
              <a:ext cx="1867198" cy="1182923"/>
            </a:xfrm>
            <a:prstGeom prst="rect">
              <a:avLst/>
            </a:prstGeom>
          </p:spPr>
          <p:txBody>
            <a:bodyPr lIns="50800" tIns="50800" rIns="50800" bIns="50800" rtlCol="0" anchor="ctr"/>
            <a:lstStyle/>
            <a:p>
              <a:pPr algn="ctr">
                <a:lnSpc>
                  <a:spcPts val="1387"/>
                </a:lnSpc>
              </a:pPr>
              <a:endParaRPr/>
            </a:p>
          </p:txBody>
        </p:sp>
      </p:grpSp>
      <p:grpSp>
        <p:nvGrpSpPr>
          <p:cNvPr id="5" name="Group 5"/>
          <p:cNvGrpSpPr/>
          <p:nvPr/>
        </p:nvGrpSpPr>
        <p:grpSpPr>
          <a:xfrm>
            <a:off x="9439465" y="7352318"/>
            <a:ext cx="6583024" cy="1556112"/>
            <a:chOff x="0" y="0"/>
            <a:chExt cx="1733800" cy="409840"/>
          </a:xfrm>
        </p:grpSpPr>
        <p:sp>
          <p:nvSpPr>
            <p:cNvPr id="6" name="Freeform 6"/>
            <p:cNvSpPr/>
            <p:nvPr/>
          </p:nvSpPr>
          <p:spPr>
            <a:xfrm>
              <a:off x="0" y="0"/>
              <a:ext cx="1733801" cy="409840"/>
            </a:xfrm>
            <a:custGeom>
              <a:avLst/>
              <a:gdLst/>
              <a:ahLst/>
              <a:cxnLst/>
              <a:rect l="l" t="t" r="r" b="b"/>
              <a:pathLst>
                <a:path w="1733801" h="409840">
                  <a:moveTo>
                    <a:pt x="44690" y="0"/>
                  </a:moveTo>
                  <a:lnTo>
                    <a:pt x="1689111" y="0"/>
                  </a:lnTo>
                  <a:cubicBezTo>
                    <a:pt x="1713792" y="0"/>
                    <a:pt x="1733801" y="20008"/>
                    <a:pt x="1733801" y="44690"/>
                  </a:cubicBezTo>
                  <a:lnTo>
                    <a:pt x="1733801" y="365150"/>
                  </a:lnTo>
                  <a:cubicBezTo>
                    <a:pt x="1733801" y="377003"/>
                    <a:pt x="1729092" y="388370"/>
                    <a:pt x="1720711" y="396751"/>
                  </a:cubicBezTo>
                  <a:cubicBezTo>
                    <a:pt x="1712330" y="405132"/>
                    <a:pt x="1700963" y="409840"/>
                    <a:pt x="1689111" y="409840"/>
                  </a:cubicBezTo>
                  <a:lnTo>
                    <a:pt x="44690" y="409840"/>
                  </a:lnTo>
                  <a:cubicBezTo>
                    <a:pt x="32837" y="409840"/>
                    <a:pt x="21470" y="405132"/>
                    <a:pt x="13089" y="396751"/>
                  </a:cubicBezTo>
                  <a:cubicBezTo>
                    <a:pt x="4708" y="388370"/>
                    <a:pt x="0" y="377003"/>
                    <a:pt x="0" y="365150"/>
                  </a:cubicBezTo>
                  <a:lnTo>
                    <a:pt x="0" y="44690"/>
                  </a:lnTo>
                  <a:cubicBezTo>
                    <a:pt x="0" y="32837"/>
                    <a:pt x="4708" y="21470"/>
                    <a:pt x="13089" y="13089"/>
                  </a:cubicBezTo>
                  <a:cubicBezTo>
                    <a:pt x="21470" y="4708"/>
                    <a:pt x="32837" y="0"/>
                    <a:pt x="44690" y="0"/>
                  </a:cubicBezTo>
                  <a:close/>
                </a:path>
              </a:pathLst>
            </a:custGeom>
            <a:gradFill rotWithShape="1">
              <a:gsLst>
                <a:gs pos="0">
                  <a:srgbClr val="0C4A5B">
                    <a:alpha val="100000"/>
                  </a:srgbClr>
                </a:gs>
                <a:gs pos="100000">
                  <a:srgbClr val="27DDDF">
                    <a:alpha val="100000"/>
                  </a:srgbClr>
                </a:gs>
              </a:gsLst>
              <a:lin ang="2700000"/>
            </a:gradFill>
          </p:spPr>
          <p:txBody>
            <a:bodyPr/>
            <a:lstStyle/>
            <a:p>
              <a:endParaRPr lang="en-US"/>
            </a:p>
          </p:txBody>
        </p:sp>
        <p:sp>
          <p:nvSpPr>
            <p:cNvPr id="7" name="TextBox 7"/>
            <p:cNvSpPr txBox="1"/>
            <p:nvPr/>
          </p:nvSpPr>
          <p:spPr>
            <a:xfrm>
              <a:off x="0" y="19050"/>
              <a:ext cx="1733800" cy="390790"/>
            </a:xfrm>
            <a:prstGeom prst="rect">
              <a:avLst/>
            </a:prstGeom>
          </p:spPr>
          <p:txBody>
            <a:bodyPr lIns="50800" tIns="50800" rIns="50800" bIns="50800" rtlCol="0" anchor="ctr"/>
            <a:lstStyle/>
            <a:p>
              <a:pPr algn="ctr">
                <a:lnSpc>
                  <a:spcPts val="1387"/>
                </a:lnSpc>
              </a:pPr>
              <a:endParaRPr/>
            </a:p>
          </p:txBody>
        </p:sp>
      </p:grpSp>
      <p:grpSp>
        <p:nvGrpSpPr>
          <p:cNvPr id="8" name="Group 8"/>
          <p:cNvGrpSpPr/>
          <p:nvPr/>
        </p:nvGrpSpPr>
        <p:grpSpPr>
          <a:xfrm>
            <a:off x="9439465" y="2343150"/>
            <a:ext cx="6583024" cy="4793629"/>
            <a:chOff x="0" y="0"/>
            <a:chExt cx="1733800" cy="1262520"/>
          </a:xfrm>
        </p:grpSpPr>
        <p:sp>
          <p:nvSpPr>
            <p:cNvPr id="9" name="Freeform 9"/>
            <p:cNvSpPr/>
            <p:nvPr/>
          </p:nvSpPr>
          <p:spPr>
            <a:xfrm>
              <a:off x="0" y="0"/>
              <a:ext cx="1733801" cy="1262520"/>
            </a:xfrm>
            <a:custGeom>
              <a:avLst/>
              <a:gdLst/>
              <a:ahLst/>
              <a:cxnLst/>
              <a:rect l="l" t="t" r="r" b="b"/>
              <a:pathLst>
                <a:path w="1733801" h="1262520">
                  <a:moveTo>
                    <a:pt x="44690" y="0"/>
                  </a:moveTo>
                  <a:lnTo>
                    <a:pt x="1689111" y="0"/>
                  </a:lnTo>
                  <a:cubicBezTo>
                    <a:pt x="1713792" y="0"/>
                    <a:pt x="1733801" y="20008"/>
                    <a:pt x="1733801" y="44690"/>
                  </a:cubicBezTo>
                  <a:lnTo>
                    <a:pt x="1733801" y="1217830"/>
                  </a:lnTo>
                  <a:cubicBezTo>
                    <a:pt x="1733801" y="1229682"/>
                    <a:pt x="1729092" y="1241049"/>
                    <a:pt x="1720711" y="1249430"/>
                  </a:cubicBezTo>
                  <a:cubicBezTo>
                    <a:pt x="1712330" y="1257811"/>
                    <a:pt x="1700963" y="1262520"/>
                    <a:pt x="1689111" y="1262520"/>
                  </a:cubicBezTo>
                  <a:lnTo>
                    <a:pt x="44690" y="1262520"/>
                  </a:lnTo>
                  <a:cubicBezTo>
                    <a:pt x="32837" y="1262520"/>
                    <a:pt x="21470" y="1257811"/>
                    <a:pt x="13089" y="1249430"/>
                  </a:cubicBezTo>
                  <a:cubicBezTo>
                    <a:pt x="4708" y="1241049"/>
                    <a:pt x="0" y="1229682"/>
                    <a:pt x="0" y="1217830"/>
                  </a:cubicBezTo>
                  <a:lnTo>
                    <a:pt x="0" y="44690"/>
                  </a:lnTo>
                  <a:cubicBezTo>
                    <a:pt x="0" y="32837"/>
                    <a:pt x="4708" y="21470"/>
                    <a:pt x="13089" y="13089"/>
                  </a:cubicBezTo>
                  <a:cubicBezTo>
                    <a:pt x="21470" y="4708"/>
                    <a:pt x="32837" y="0"/>
                    <a:pt x="44690" y="0"/>
                  </a:cubicBezTo>
                  <a:close/>
                </a:path>
              </a:pathLst>
            </a:custGeom>
            <a:solidFill>
              <a:srgbClr val="202127"/>
            </a:solidFill>
          </p:spPr>
          <p:txBody>
            <a:bodyPr/>
            <a:lstStyle/>
            <a:p>
              <a:endParaRPr lang="en-US"/>
            </a:p>
          </p:txBody>
        </p:sp>
        <p:sp>
          <p:nvSpPr>
            <p:cNvPr id="10" name="TextBox 10"/>
            <p:cNvSpPr txBox="1"/>
            <p:nvPr/>
          </p:nvSpPr>
          <p:spPr>
            <a:xfrm>
              <a:off x="0" y="19050"/>
              <a:ext cx="1733800" cy="1243470"/>
            </a:xfrm>
            <a:prstGeom prst="rect">
              <a:avLst/>
            </a:prstGeom>
          </p:spPr>
          <p:txBody>
            <a:bodyPr lIns="50800" tIns="50800" rIns="50800" bIns="50800" rtlCol="0" anchor="ctr"/>
            <a:lstStyle/>
            <a:p>
              <a:pPr algn="ctr">
                <a:lnSpc>
                  <a:spcPts val="1387"/>
                </a:lnSpc>
              </a:pPr>
              <a:endParaRPr/>
            </a:p>
          </p:txBody>
        </p:sp>
      </p:grpSp>
      <p:grpSp>
        <p:nvGrpSpPr>
          <p:cNvPr id="11" name="Group 11"/>
          <p:cNvGrpSpPr/>
          <p:nvPr/>
        </p:nvGrpSpPr>
        <p:grpSpPr>
          <a:xfrm>
            <a:off x="2509743" y="4764728"/>
            <a:ext cx="675884" cy="67588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txBody>
            <a:bodyPr/>
            <a:lstStyle/>
            <a:p>
              <a:endParaRPr lang="en-US"/>
            </a:p>
          </p:txBody>
        </p:sp>
        <p:sp>
          <p:nvSpPr>
            <p:cNvPr id="13" name="TextBox 13"/>
            <p:cNvSpPr txBox="1"/>
            <p:nvPr/>
          </p:nvSpPr>
          <p:spPr>
            <a:xfrm>
              <a:off x="76200" y="95250"/>
              <a:ext cx="660400" cy="641350"/>
            </a:xfrm>
            <a:prstGeom prst="rect">
              <a:avLst/>
            </a:prstGeom>
          </p:spPr>
          <p:txBody>
            <a:bodyPr lIns="50800" tIns="50800" rIns="50800" bIns="50800" rtlCol="0" anchor="ctr"/>
            <a:lstStyle/>
            <a:p>
              <a:pPr algn="ctr">
                <a:lnSpc>
                  <a:spcPts val="1387"/>
                </a:lnSpc>
              </a:pPr>
              <a:endParaRPr/>
            </a:p>
          </p:txBody>
        </p:sp>
      </p:grpSp>
      <p:sp>
        <p:nvSpPr>
          <p:cNvPr id="14" name="Freeform 14"/>
          <p:cNvSpPr/>
          <p:nvPr/>
        </p:nvSpPr>
        <p:spPr>
          <a:xfrm>
            <a:off x="2644490" y="4987773"/>
            <a:ext cx="406389" cy="229794"/>
          </a:xfrm>
          <a:custGeom>
            <a:avLst/>
            <a:gdLst/>
            <a:ahLst/>
            <a:cxnLst/>
            <a:rect l="l" t="t" r="r" b="b"/>
            <a:pathLst>
              <a:path w="406389" h="229794">
                <a:moveTo>
                  <a:pt x="0" y="0"/>
                </a:moveTo>
                <a:lnTo>
                  <a:pt x="406389" y="0"/>
                </a:lnTo>
                <a:lnTo>
                  <a:pt x="406389" y="229794"/>
                </a:lnTo>
                <a:lnTo>
                  <a:pt x="0" y="2297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5" name="Group 15"/>
          <p:cNvGrpSpPr/>
          <p:nvPr/>
        </p:nvGrpSpPr>
        <p:grpSpPr>
          <a:xfrm>
            <a:off x="9749478" y="2591597"/>
            <a:ext cx="675884" cy="67588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txBody>
            <a:bodyPr/>
            <a:lstStyle/>
            <a:p>
              <a:endParaRPr lang="en-US"/>
            </a:p>
          </p:txBody>
        </p:sp>
        <p:sp>
          <p:nvSpPr>
            <p:cNvPr id="17" name="TextBox 17"/>
            <p:cNvSpPr txBox="1"/>
            <p:nvPr/>
          </p:nvSpPr>
          <p:spPr>
            <a:xfrm>
              <a:off x="76200" y="95250"/>
              <a:ext cx="660400" cy="641350"/>
            </a:xfrm>
            <a:prstGeom prst="rect">
              <a:avLst/>
            </a:prstGeom>
          </p:spPr>
          <p:txBody>
            <a:bodyPr lIns="50800" tIns="50800" rIns="50800" bIns="50800" rtlCol="0" anchor="ctr"/>
            <a:lstStyle/>
            <a:p>
              <a:pPr algn="ctr">
                <a:lnSpc>
                  <a:spcPts val="1387"/>
                </a:lnSpc>
              </a:pPr>
              <a:endParaRPr/>
            </a:p>
          </p:txBody>
        </p:sp>
      </p:grpSp>
      <p:sp>
        <p:nvSpPr>
          <p:cNvPr id="18" name="Freeform 18"/>
          <p:cNvSpPr/>
          <p:nvPr/>
        </p:nvSpPr>
        <p:spPr>
          <a:xfrm>
            <a:off x="9866070" y="2709010"/>
            <a:ext cx="489274" cy="455359"/>
          </a:xfrm>
          <a:custGeom>
            <a:avLst/>
            <a:gdLst/>
            <a:ahLst/>
            <a:cxnLst/>
            <a:rect l="l" t="t" r="r" b="b"/>
            <a:pathLst>
              <a:path w="489274" h="455359">
                <a:moveTo>
                  <a:pt x="0" y="0"/>
                </a:moveTo>
                <a:lnTo>
                  <a:pt x="489274" y="0"/>
                </a:lnTo>
                <a:lnTo>
                  <a:pt x="489274" y="455359"/>
                </a:lnTo>
                <a:lnTo>
                  <a:pt x="0" y="4553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Freeform 19"/>
          <p:cNvSpPr/>
          <p:nvPr/>
        </p:nvSpPr>
        <p:spPr>
          <a:xfrm>
            <a:off x="13179026" y="7508254"/>
            <a:ext cx="1806512" cy="1383648"/>
          </a:xfrm>
          <a:custGeom>
            <a:avLst/>
            <a:gdLst/>
            <a:ahLst/>
            <a:cxnLst/>
            <a:rect l="l" t="t" r="r" b="b"/>
            <a:pathLst>
              <a:path w="1806512" h="1383648">
                <a:moveTo>
                  <a:pt x="0" y="0"/>
                </a:moveTo>
                <a:lnTo>
                  <a:pt x="1806512" y="0"/>
                </a:lnTo>
                <a:lnTo>
                  <a:pt x="1806512" y="1383648"/>
                </a:lnTo>
                <a:lnTo>
                  <a:pt x="0" y="1383648"/>
                </a:lnTo>
                <a:lnTo>
                  <a:pt x="0" y="0"/>
                </a:lnTo>
                <a:close/>
              </a:path>
            </a:pathLst>
          </a:custGeom>
          <a:blipFill>
            <a:blip r:embed="rId6">
              <a:extLst>
                <a:ext uri="{96DAC541-7B7A-43D3-8B79-37D633B846F1}">
                  <asvg:svgBlip xmlns:asvg="http://schemas.microsoft.com/office/drawing/2016/SVG/main" r:embed="rId7"/>
                </a:ext>
              </a:extLst>
            </a:blip>
            <a:stretch>
              <a:fillRect b="-35488"/>
            </a:stretch>
          </a:blipFill>
        </p:spPr>
        <p:txBody>
          <a:bodyPr/>
          <a:lstStyle/>
          <a:p>
            <a:endParaRPr lang="en-US"/>
          </a:p>
        </p:txBody>
      </p:sp>
      <p:sp>
        <p:nvSpPr>
          <p:cNvPr id="20" name="TextBox 20"/>
          <p:cNvSpPr txBox="1"/>
          <p:nvPr/>
        </p:nvSpPr>
        <p:spPr>
          <a:xfrm>
            <a:off x="2054482" y="2234275"/>
            <a:ext cx="7089518" cy="2064788"/>
          </a:xfrm>
          <a:prstGeom prst="rect">
            <a:avLst/>
          </a:prstGeom>
        </p:spPr>
        <p:txBody>
          <a:bodyPr lIns="0" tIns="0" rIns="0" bIns="0" rtlCol="0" anchor="t">
            <a:spAutoFit/>
          </a:bodyPr>
          <a:lstStyle/>
          <a:p>
            <a:pPr algn="l">
              <a:lnSpc>
                <a:spcPts val="7453"/>
              </a:lnSpc>
            </a:pPr>
            <a:r>
              <a:rPr lang="en-US" sz="7166" b="1" spc="-300">
                <a:solidFill>
                  <a:srgbClr val="FFFFFF"/>
                </a:solidFill>
                <a:latin typeface="Arial MT Pro Bold"/>
                <a:ea typeface="Arial MT Pro Bold"/>
                <a:cs typeface="Arial MT Pro Bold"/>
                <a:sym typeface="Arial MT Pro Bold"/>
              </a:rPr>
              <a:t>Exploratory Data Analysis</a:t>
            </a:r>
          </a:p>
        </p:txBody>
      </p:sp>
      <p:sp>
        <p:nvSpPr>
          <p:cNvPr id="21" name="TextBox 21"/>
          <p:cNvSpPr txBox="1"/>
          <p:nvPr/>
        </p:nvSpPr>
        <p:spPr>
          <a:xfrm>
            <a:off x="2509743" y="5707285"/>
            <a:ext cx="1736112" cy="392640"/>
          </a:xfrm>
          <a:prstGeom prst="rect">
            <a:avLst/>
          </a:prstGeom>
        </p:spPr>
        <p:txBody>
          <a:bodyPr lIns="0" tIns="0" rIns="0" bIns="0" rtlCol="0" anchor="t">
            <a:spAutoFit/>
          </a:bodyPr>
          <a:lstStyle/>
          <a:p>
            <a:pPr algn="l">
              <a:lnSpc>
                <a:spcPts val="2552"/>
              </a:lnSpc>
            </a:pPr>
            <a:r>
              <a:rPr lang="en-US" sz="2454" b="1" spc="-103">
                <a:solidFill>
                  <a:srgbClr val="FFFFFF"/>
                </a:solidFill>
                <a:latin typeface="Arial MT Pro Bold"/>
                <a:ea typeface="Arial MT Pro Bold"/>
                <a:cs typeface="Arial MT Pro Bold"/>
                <a:sym typeface="Arial MT Pro Bold"/>
              </a:rPr>
              <a:t>Insights</a:t>
            </a:r>
          </a:p>
        </p:txBody>
      </p:sp>
      <p:sp>
        <p:nvSpPr>
          <p:cNvPr id="22" name="TextBox 22"/>
          <p:cNvSpPr txBox="1"/>
          <p:nvPr/>
        </p:nvSpPr>
        <p:spPr>
          <a:xfrm>
            <a:off x="9866070" y="7540415"/>
            <a:ext cx="3312956" cy="1160866"/>
          </a:xfrm>
          <a:prstGeom prst="rect">
            <a:avLst/>
          </a:prstGeom>
        </p:spPr>
        <p:txBody>
          <a:bodyPr lIns="0" tIns="0" rIns="0" bIns="0" rtlCol="0" anchor="t">
            <a:spAutoFit/>
          </a:bodyPr>
          <a:lstStyle/>
          <a:p>
            <a:pPr algn="l">
              <a:lnSpc>
                <a:spcPts val="2864"/>
              </a:lnSpc>
            </a:pPr>
            <a:r>
              <a:rPr lang="en-US" sz="2754" b="1" spc="-115">
                <a:solidFill>
                  <a:srgbClr val="FFFFFF"/>
                </a:solidFill>
                <a:latin typeface="Arial MT Pro Bold"/>
                <a:ea typeface="Arial MT Pro Bold"/>
                <a:cs typeface="Arial MT Pro Bold"/>
                <a:sym typeface="Arial MT Pro Bold"/>
              </a:rPr>
              <a:t>Salary growth is not aligned with housing market realities</a:t>
            </a:r>
          </a:p>
        </p:txBody>
      </p:sp>
      <p:sp>
        <p:nvSpPr>
          <p:cNvPr id="23" name="TextBox 23"/>
          <p:cNvSpPr txBox="1"/>
          <p:nvPr/>
        </p:nvSpPr>
        <p:spPr>
          <a:xfrm>
            <a:off x="2509743" y="6236977"/>
            <a:ext cx="5708731" cy="1436973"/>
          </a:xfrm>
          <a:prstGeom prst="rect">
            <a:avLst/>
          </a:prstGeom>
        </p:spPr>
        <p:txBody>
          <a:bodyPr lIns="0" tIns="0" rIns="0" bIns="0" rtlCol="0" anchor="t">
            <a:spAutoFit/>
          </a:bodyPr>
          <a:lstStyle/>
          <a:p>
            <a:pPr algn="l">
              <a:lnSpc>
                <a:spcPts val="3746"/>
              </a:lnSpc>
              <a:spcBef>
                <a:spcPct val="0"/>
              </a:spcBef>
            </a:pPr>
            <a:r>
              <a:rPr lang="en-US" sz="2676">
                <a:solidFill>
                  <a:srgbClr val="FFFFFF"/>
                </a:solidFill>
                <a:latin typeface="Arial MT Pro"/>
                <a:ea typeface="Arial MT Pro"/>
                <a:cs typeface="Arial MT Pro"/>
                <a:sym typeface="Arial MT Pro"/>
              </a:rPr>
              <a:t>DC home prices have increased dramatically while many public employee salaries have not kept pace</a:t>
            </a:r>
          </a:p>
        </p:txBody>
      </p:sp>
      <p:sp>
        <p:nvSpPr>
          <p:cNvPr id="24" name="TextBox 24"/>
          <p:cNvSpPr txBox="1"/>
          <p:nvPr/>
        </p:nvSpPr>
        <p:spPr>
          <a:xfrm>
            <a:off x="9749478" y="3450181"/>
            <a:ext cx="5708731" cy="3770598"/>
          </a:xfrm>
          <a:prstGeom prst="rect">
            <a:avLst/>
          </a:prstGeom>
        </p:spPr>
        <p:txBody>
          <a:bodyPr lIns="0" tIns="0" rIns="0" bIns="0" rtlCol="0" anchor="t">
            <a:spAutoFit/>
          </a:bodyPr>
          <a:lstStyle/>
          <a:p>
            <a:pPr algn="l">
              <a:lnSpc>
                <a:spcPts val="3746"/>
              </a:lnSpc>
              <a:spcBef>
                <a:spcPct val="0"/>
              </a:spcBef>
            </a:pPr>
            <a:r>
              <a:rPr lang="en-US" sz="2676">
                <a:solidFill>
                  <a:srgbClr val="FFFFFF"/>
                </a:solidFill>
                <a:latin typeface="Arial MT Pro"/>
                <a:ea typeface="Arial MT Pro"/>
                <a:cs typeface="Arial MT Pro"/>
                <a:sym typeface="Arial MT Pro"/>
              </a:rPr>
              <a:t>This results in:</a:t>
            </a:r>
          </a:p>
          <a:p>
            <a:pPr marL="577805" lvl="1" indent="-288903" algn="l">
              <a:lnSpc>
                <a:spcPts val="3746"/>
              </a:lnSpc>
              <a:spcBef>
                <a:spcPct val="0"/>
              </a:spcBef>
              <a:buFont typeface="Arial"/>
              <a:buChar char="•"/>
            </a:pPr>
            <a:r>
              <a:rPr lang="en-US" sz="2676">
                <a:solidFill>
                  <a:srgbClr val="FFFFFF"/>
                </a:solidFill>
                <a:latin typeface="Arial MT Pro"/>
                <a:ea typeface="Arial MT Pro"/>
                <a:cs typeface="Arial MT Pro"/>
                <a:sym typeface="Arial MT Pro"/>
              </a:rPr>
              <a:t>Reduced geographic access for lower-paid agencies</a:t>
            </a:r>
          </a:p>
          <a:p>
            <a:pPr marL="577805" lvl="1" indent="-288903" algn="l">
              <a:lnSpc>
                <a:spcPts val="3746"/>
              </a:lnSpc>
              <a:spcBef>
                <a:spcPct val="0"/>
              </a:spcBef>
              <a:buFont typeface="Arial"/>
              <a:buChar char="•"/>
            </a:pPr>
            <a:r>
              <a:rPr lang="en-US" sz="2676">
                <a:solidFill>
                  <a:srgbClr val="FFFFFF"/>
                </a:solidFill>
                <a:latin typeface="Arial MT Pro"/>
                <a:ea typeface="Arial MT Pro"/>
                <a:cs typeface="Arial MT Pro"/>
                <a:sym typeface="Arial MT Pro"/>
              </a:rPr>
              <a:t>Rising affordability pressure for mid-income employees</a:t>
            </a:r>
          </a:p>
          <a:p>
            <a:pPr marL="577805" lvl="1" indent="-288903" algn="l">
              <a:lnSpc>
                <a:spcPts val="3746"/>
              </a:lnSpc>
              <a:spcBef>
                <a:spcPct val="0"/>
              </a:spcBef>
              <a:buFont typeface="Arial"/>
              <a:buChar char="•"/>
            </a:pPr>
            <a:r>
              <a:rPr lang="en-US" sz="2676">
                <a:solidFill>
                  <a:srgbClr val="FFFFFF"/>
                </a:solidFill>
                <a:latin typeface="Arial MT Pro"/>
                <a:ea typeface="Arial MT Pro"/>
                <a:cs typeface="Arial MT Pro"/>
                <a:sym typeface="Arial MT Pro"/>
              </a:rPr>
              <a:t>Structural inequity in where DC employees can realistically live</a:t>
            </a:r>
          </a:p>
          <a:p>
            <a:pPr algn="l">
              <a:lnSpc>
                <a:spcPts val="3746"/>
              </a:lnSpc>
              <a:spcBef>
                <a:spcPct val="0"/>
              </a:spcBef>
            </a:pPr>
            <a:endParaRPr lang="en-US" sz="2676">
              <a:solidFill>
                <a:srgbClr val="FFFFFF"/>
              </a:solidFill>
              <a:latin typeface="Arial MT Pro"/>
              <a:ea typeface="Arial MT Pro"/>
              <a:cs typeface="Arial MT Pro"/>
              <a:sym typeface="Arial MT Pr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sp>
        <p:nvSpPr>
          <p:cNvPr id="2" name="Freeform 2"/>
          <p:cNvSpPr/>
          <p:nvPr/>
        </p:nvSpPr>
        <p:spPr>
          <a:xfrm>
            <a:off x="2644490" y="4987773"/>
            <a:ext cx="406389" cy="229794"/>
          </a:xfrm>
          <a:custGeom>
            <a:avLst/>
            <a:gdLst/>
            <a:ahLst/>
            <a:cxnLst/>
            <a:rect l="l" t="t" r="r" b="b"/>
            <a:pathLst>
              <a:path w="406389" h="229794">
                <a:moveTo>
                  <a:pt x="0" y="0"/>
                </a:moveTo>
                <a:lnTo>
                  <a:pt x="406389" y="0"/>
                </a:lnTo>
                <a:lnTo>
                  <a:pt x="406389" y="229794"/>
                </a:lnTo>
                <a:lnTo>
                  <a:pt x="0" y="2297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90758" y="143333"/>
            <a:ext cx="16757643" cy="1119495"/>
          </a:xfrm>
          <a:prstGeom prst="rect">
            <a:avLst/>
          </a:prstGeom>
        </p:spPr>
        <p:txBody>
          <a:bodyPr lIns="0" tIns="0" rIns="0" bIns="0" rtlCol="0" anchor="t">
            <a:spAutoFit/>
          </a:bodyPr>
          <a:lstStyle/>
          <a:p>
            <a:pPr algn="l">
              <a:lnSpc>
                <a:spcPts val="7453"/>
              </a:lnSpc>
            </a:pPr>
            <a:r>
              <a:rPr lang="en-US" sz="7166" b="1" spc="-300">
                <a:solidFill>
                  <a:srgbClr val="FFFFFF"/>
                </a:solidFill>
                <a:latin typeface="Arial MT Pro Bold"/>
                <a:ea typeface="Arial MT Pro Bold"/>
                <a:cs typeface="Arial MT Pro Bold"/>
                <a:sym typeface="Arial MT Pro Bold"/>
              </a:rPr>
              <a:t>Forecasting Summary &amp; Insights </a:t>
            </a:r>
          </a:p>
        </p:txBody>
      </p:sp>
      <p:grpSp>
        <p:nvGrpSpPr>
          <p:cNvPr id="4" name="Group 4"/>
          <p:cNvGrpSpPr/>
          <p:nvPr/>
        </p:nvGrpSpPr>
        <p:grpSpPr>
          <a:xfrm>
            <a:off x="160625" y="1602215"/>
            <a:ext cx="7814889" cy="4025879"/>
            <a:chOff x="0" y="0"/>
            <a:chExt cx="10419852" cy="5367838"/>
          </a:xfrm>
        </p:grpSpPr>
        <p:grpSp>
          <p:nvGrpSpPr>
            <p:cNvPr id="5" name="Group 5"/>
            <p:cNvGrpSpPr/>
            <p:nvPr/>
          </p:nvGrpSpPr>
          <p:grpSpPr>
            <a:xfrm>
              <a:off x="0" y="0"/>
              <a:ext cx="10419852" cy="5367838"/>
              <a:chOff x="0" y="0"/>
              <a:chExt cx="1863776" cy="960134"/>
            </a:xfrm>
          </p:grpSpPr>
          <p:sp>
            <p:nvSpPr>
              <p:cNvPr id="6" name="Freeform 6"/>
              <p:cNvSpPr/>
              <p:nvPr/>
            </p:nvSpPr>
            <p:spPr>
              <a:xfrm>
                <a:off x="0" y="0"/>
                <a:ext cx="1863777" cy="960134"/>
              </a:xfrm>
              <a:custGeom>
                <a:avLst/>
                <a:gdLst/>
                <a:ahLst/>
                <a:cxnLst/>
                <a:rect l="l" t="t" r="r" b="b"/>
                <a:pathLst>
                  <a:path w="1863777" h="960134">
                    <a:moveTo>
                      <a:pt x="41573" y="0"/>
                    </a:moveTo>
                    <a:lnTo>
                      <a:pt x="1822204" y="0"/>
                    </a:lnTo>
                    <a:cubicBezTo>
                      <a:pt x="1833229" y="0"/>
                      <a:pt x="1843804" y="4380"/>
                      <a:pt x="1851600" y="12176"/>
                    </a:cubicBezTo>
                    <a:cubicBezTo>
                      <a:pt x="1859397" y="19973"/>
                      <a:pt x="1863777" y="30547"/>
                      <a:pt x="1863777" y="41573"/>
                    </a:cubicBezTo>
                    <a:lnTo>
                      <a:pt x="1863777" y="918561"/>
                    </a:lnTo>
                    <a:cubicBezTo>
                      <a:pt x="1863777" y="941521"/>
                      <a:pt x="1845164" y="960134"/>
                      <a:pt x="1822204" y="960134"/>
                    </a:cubicBezTo>
                    <a:lnTo>
                      <a:pt x="41573" y="960134"/>
                    </a:lnTo>
                    <a:cubicBezTo>
                      <a:pt x="18613" y="960134"/>
                      <a:pt x="0" y="941521"/>
                      <a:pt x="0" y="918561"/>
                    </a:cubicBezTo>
                    <a:lnTo>
                      <a:pt x="0" y="41573"/>
                    </a:lnTo>
                    <a:cubicBezTo>
                      <a:pt x="0" y="30547"/>
                      <a:pt x="4380" y="19973"/>
                      <a:pt x="12176" y="12176"/>
                    </a:cubicBezTo>
                    <a:cubicBezTo>
                      <a:pt x="19973" y="4380"/>
                      <a:pt x="30547" y="0"/>
                      <a:pt x="41573" y="0"/>
                    </a:cubicBezTo>
                    <a:close/>
                  </a:path>
                </a:pathLst>
              </a:custGeom>
              <a:solidFill>
                <a:srgbClr val="202127"/>
              </a:solidFill>
            </p:spPr>
            <p:txBody>
              <a:bodyPr/>
              <a:lstStyle/>
              <a:p>
                <a:endParaRPr lang="en-US"/>
              </a:p>
            </p:txBody>
          </p:sp>
          <p:sp>
            <p:nvSpPr>
              <p:cNvPr id="7" name="TextBox 7"/>
              <p:cNvSpPr txBox="1"/>
              <p:nvPr/>
            </p:nvSpPr>
            <p:spPr>
              <a:xfrm>
                <a:off x="0" y="19050"/>
                <a:ext cx="1863776" cy="941084"/>
              </a:xfrm>
              <a:prstGeom prst="rect">
                <a:avLst/>
              </a:prstGeom>
            </p:spPr>
            <p:txBody>
              <a:bodyPr lIns="50800" tIns="50800" rIns="50800" bIns="50800" rtlCol="0" anchor="ctr"/>
              <a:lstStyle/>
              <a:p>
                <a:pPr algn="ctr">
                  <a:lnSpc>
                    <a:spcPts val="1387"/>
                  </a:lnSpc>
                </a:pPr>
                <a:endParaRPr/>
              </a:p>
            </p:txBody>
          </p:sp>
        </p:grpSp>
        <p:sp>
          <p:nvSpPr>
            <p:cNvPr id="8" name="TextBox 8"/>
            <p:cNvSpPr txBox="1"/>
            <p:nvPr/>
          </p:nvSpPr>
          <p:spPr>
            <a:xfrm>
              <a:off x="1831912" y="479495"/>
              <a:ext cx="2551658" cy="569144"/>
            </a:xfrm>
            <a:prstGeom prst="rect">
              <a:avLst/>
            </a:prstGeom>
          </p:spPr>
          <p:txBody>
            <a:bodyPr lIns="0" tIns="0" rIns="0" bIns="0" rtlCol="0" anchor="t">
              <a:spAutoFit/>
            </a:bodyPr>
            <a:lstStyle/>
            <a:p>
              <a:pPr algn="l">
                <a:lnSpc>
                  <a:spcPts val="2818"/>
                </a:lnSpc>
              </a:pPr>
              <a:r>
                <a:rPr lang="en-US" sz="2710" b="1" spc="-113">
                  <a:solidFill>
                    <a:srgbClr val="FFFFFF"/>
                  </a:solidFill>
                  <a:latin typeface="Arial MT Pro Bold"/>
                  <a:ea typeface="Arial MT Pro Bold"/>
                  <a:cs typeface="Arial MT Pro Bold"/>
                  <a:sym typeface="Arial MT Pro Bold"/>
                </a:rPr>
                <a:t>Insights</a:t>
              </a:r>
            </a:p>
          </p:txBody>
        </p:sp>
        <p:sp>
          <p:nvSpPr>
            <p:cNvPr id="9" name="TextBox 9"/>
            <p:cNvSpPr txBox="1"/>
            <p:nvPr/>
          </p:nvSpPr>
          <p:spPr>
            <a:xfrm>
              <a:off x="648034" y="1431974"/>
              <a:ext cx="8390434" cy="2763129"/>
            </a:xfrm>
            <a:prstGeom prst="rect">
              <a:avLst/>
            </a:prstGeom>
          </p:spPr>
          <p:txBody>
            <a:bodyPr lIns="0" tIns="0" rIns="0" bIns="0" rtlCol="0" anchor="t">
              <a:spAutoFit/>
            </a:bodyPr>
            <a:lstStyle/>
            <a:p>
              <a:pPr algn="l">
                <a:lnSpc>
                  <a:spcPts val="4137"/>
                </a:lnSpc>
                <a:spcBef>
                  <a:spcPct val="0"/>
                </a:spcBef>
              </a:pPr>
              <a:r>
                <a:rPr lang="en-US" sz="2955" b="1">
                  <a:solidFill>
                    <a:srgbClr val="FFFFFF"/>
                  </a:solidFill>
                  <a:latin typeface="Arial MT Pro Bold"/>
                  <a:ea typeface="Arial MT Pro Bold"/>
                  <a:cs typeface="Arial MT Pro Bold"/>
                  <a:sym typeface="Arial MT Pro Bold"/>
                </a:rPr>
                <a:t>DC ZIP</a:t>
              </a:r>
              <a:r>
                <a:rPr lang="en-US" sz="2955">
                  <a:solidFill>
                    <a:srgbClr val="FFFFFF"/>
                  </a:solidFill>
                  <a:latin typeface="Arial MT Pro"/>
                  <a:ea typeface="Arial MT Pro"/>
                  <a:cs typeface="Arial MT Pro"/>
                  <a:sym typeface="Arial MT Pro"/>
                </a:rPr>
                <a:t>-level housing prices show smooth, predictable month-to-month movement, which is why </a:t>
              </a:r>
              <a:r>
                <a:rPr lang="en-US" sz="2955" b="1">
                  <a:solidFill>
                    <a:srgbClr val="FFFFFF"/>
                  </a:solidFill>
                  <a:latin typeface="Arial MT Pro Bold"/>
                  <a:ea typeface="Arial MT Pro Bold"/>
                  <a:cs typeface="Arial MT Pro Bold"/>
                  <a:sym typeface="Arial MT Pro Bold"/>
                </a:rPr>
                <a:t>ARIMA</a:t>
              </a:r>
              <a:r>
                <a:rPr lang="en-US" sz="2955">
                  <a:solidFill>
                    <a:srgbClr val="FFFFFF"/>
                  </a:solidFill>
                  <a:latin typeface="Arial MT Pro"/>
                  <a:ea typeface="Arial MT Pro"/>
                  <a:cs typeface="Arial MT Pro"/>
                  <a:sym typeface="Arial MT Pro"/>
                </a:rPr>
                <a:t> outperformed other models.</a:t>
              </a:r>
            </a:p>
          </p:txBody>
        </p:sp>
      </p:grpSp>
      <p:grpSp>
        <p:nvGrpSpPr>
          <p:cNvPr id="10" name="Group 10"/>
          <p:cNvGrpSpPr/>
          <p:nvPr/>
        </p:nvGrpSpPr>
        <p:grpSpPr>
          <a:xfrm>
            <a:off x="8366345" y="1571548"/>
            <a:ext cx="8749481" cy="4087212"/>
            <a:chOff x="0" y="0"/>
            <a:chExt cx="11665974" cy="5449617"/>
          </a:xfrm>
        </p:grpSpPr>
        <p:grpSp>
          <p:nvGrpSpPr>
            <p:cNvPr id="11" name="Group 11"/>
            <p:cNvGrpSpPr/>
            <p:nvPr/>
          </p:nvGrpSpPr>
          <p:grpSpPr>
            <a:xfrm>
              <a:off x="0" y="0"/>
              <a:ext cx="11665974" cy="5449617"/>
              <a:chOff x="0" y="0"/>
              <a:chExt cx="2304390" cy="1076467"/>
            </a:xfrm>
          </p:grpSpPr>
          <p:sp>
            <p:nvSpPr>
              <p:cNvPr id="12" name="Freeform 12"/>
              <p:cNvSpPr/>
              <p:nvPr/>
            </p:nvSpPr>
            <p:spPr>
              <a:xfrm>
                <a:off x="0" y="0"/>
                <a:ext cx="2304390" cy="1076467"/>
              </a:xfrm>
              <a:custGeom>
                <a:avLst/>
                <a:gdLst/>
                <a:ahLst/>
                <a:cxnLst/>
                <a:rect l="l" t="t" r="r" b="b"/>
                <a:pathLst>
                  <a:path w="2304390" h="1076467">
                    <a:moveTo>
                      <a:pt x="33624" y="0"/>
                    </a:moveTo>
                    <a:lnTo>
                      <a:pt x="2270766" y="0"/>
                    </a:lnTo>
                    <a:cubicBezTo>
                      <a:pt x="2289336" y="0"/>
                      <a:pt x="2304390" y="15054"/>
                      <a:pt x="2304390" y="33624"/>
                    </a:cubicBezTo>
                    <a:lnTo>
                      <a:pt x="2304390" y="1042843"/>
                    </a:lnTo>
                    <a:cubicBezTo>
                      <a:pt x="2304390" y="1061413"/>
                      <a:pt x="2289336" y="1076467"/>
                      <a:pt x="2270766" y="1076467"/>
                    </a:cubicBezTo>
                    <a:lnTo>
                      <a:pt x="33624" y="1076467"/>
                    </a:lnTo>
                    <a:cubicBezTo>
                      <a:pt x="15054" y="1076467"/>
                      <a:pt x="0" y="1061413"/>
                      <a:pt x="0" y="1042843"/>
                    </a:cubicBezTo>
                    <a:lnTo>
                      <a:pt x="0" y="33624"/>
                    </a:lnTo>
                    <a:cubicBezTo>
                      <a:pt x="0" y="15054"/>
                      <a:pt x="15054" y="0"/>
                      <a:pt x="33624" y="0"/>
                    </a:cubicBezTo>
                    <a:close/>
                  </a:path>
                </a:pathLst>
              </a:custGeom>
              <a:solidFill>
                <a:srgbClr val="202127"/>
              </a:solidFill>
            </p:spPr>
            <p:txBody>
              <a:bodyPr/>
              <a:lstStyle/>
              <a:p>
                <a:endParaRPr lang="en-US"/>
              </a:p>
            </p:txBody>
          </p:sp>
          <p:sp>
            <p:nvSpPr>
              <p:cNvPr id="13" name="TextBox 13"/>
              <p:cNvSpPr txBox="1"/>
              <p:nvPr/>
            </p:nvSpPr>
            <p:spPr>
              <a:xfrm>
                <a:off x="0" y="19050"/>
                <a:ext cx="2304390" cy="1057417"/>
              </a:xfrm>
              <a:prstGeom prst="rect">
                <a:avLst/>
              </a:prstGeom>
            </p:spPr>
            <p:txBody>
              <a:bodyPr lIns="50800" tIns="50800" rIns="50800" bIns="50800" rtlCol="0" anchor="ctr"/>
              <a:lstStyle/>
              <a:p>
                <a:pPr algn="ctr">
                  <a:lnSpc>
                    <a:spcPts val="1387"/>
                  </a:lnSpc>
                </a:pPr>
                <a:endParaRPr/>
              </a:p>
            </p:txBody>
          </p:sp>
        </p:grpSp>
        <p:grpSp>
          <p:nvGrpSpPr>
            <p:cNvPr id="14" name="Group 14"/>
            <p:cNvGrpSpPr/>
            <p:nvPr/>
          </p:nvGrpSpPr>
          <p:grpSpPr>
            <a:xfrm>
              <a:off x="413351" y="331263"/>
              <a:ext cx="901179" cy="90117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txBody>
              <a:bodyPr/>
              <a:lstStyle/>
              <a:p>
                <a:endParaRPr lang="en-US"/>
              </a:p>
            </p:txBody>
          </p:sp>
          <p:sp>
            <p:nvSpPr>
              <p:cNvPr id="16" name="TextBox 16"/>
              <p:cNvSpPr txBox="1"/>
              <p:nvPr/>
            </p:nvSpPr>
            <p:spPr>
              <a:xfrm>
                <a:off x="76200" y="95250"/>
                <a:ext cx="660400" cy="641350"/>
              </a:xfrm>
              <a:prstGeom prst="rect">
                <a:avLst/>
              </a:prstGeom>
            </p:spPr>
            <p:txBody>
              <a:bodyPr lIns="50800" tIns="50800" rIns="50800" bIns="50800" rtlCol="0" anchor="ctr"/>
              <a:lstStyle/>
              <a:p>
                <a:pPr algn="ctr">
                  <a:lnSpc>
                    <a:spcPts val="1387"/>
                  </a:lnSpc>
                </a:pPr>
                <a:endParaRPr/>
              </a:p>
            </p:txBody>
          </p:sp>
        </p:grpSp>
        <p:sp>
          <p:nvSpPr>
            <p:cNvPr id="17" name="Freeform 17"/>
            <p:cNvSpPr/>
            <p:nvPr/>
          </p:nvSpPr>
          <p:spPr>
            <a:xfrm>
              <a:off x="568806" y="487814"/>
              <a:ext cx="652366" cy="607146"/>
            </a:xfrm>
            <a:custGeom>
              <a:avLst/>
              <a:gdLst/>
              <a:ahLst/>
              <a:cxnLst/>
              <a:rect l="l" t="t" r="r" b="b"/>
              <a:pathLst>
                <a:path w="652366" h="607146">
                  <a:moveTo>
                    <a:pt x="0" y="0"/>
                  </a:moveTo>
                  <a:lnTo>
                    <a:pt x="652366" y="0"/>
                  </a:lnTo>
                  <a:lnTo>
                    <a:pt x="652366" y="607145"/>
                  </a:lnTo>
                  <a:lnTo>
                    <a:pt x="0" y="6071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TextBox 18"/>
            <p:cNvSpPr txBox="1"/>
            <p:nvPr/>
          </p:nvSpPr>
          <p:spPr>
            <a:xfrm>
              <a:off x="413351" y="1371426"/>
              <a:ext cx="11133591" cy="3477813"/>
            </a:xfrm>
            <a:prstGeom prst="rect">
              <a:avLst/>
            </a:prstGeom>
          </p:spPr>
          <p:txBody>
            <a:bodyPr lIns="0" tIns="0" rIns="0" bIns="0" rtlCol="0" anchor="t">
              <a:spAutoFit/>
            </a:bodyPr>
            <a:lstStyle/>
            <a:p>
              <a:pPr marL="534963" lvl="1" indent="-267482" algn="l">
                <a:lnSpc>
                  <a:spcPts val="3468"/>
                </a:lnSpc>
                <a:buFont typeface="Arial"/>
                <a:buChar char="•"/>
              </a:pPr>
              <a:r>
                <a:rPr lang="en-US" sz="2477">
                  <a:solidFill>
                    <a:srgbClr val="FFFFFF"/>
                  </a:solidFill>
                  <a:latin typeface="Arial MT Pro"/>
                  <a:ea typeface="Arial MT Pro"/>
                  <a:cs typeface="Arial MT Pro"/>
                  <a:sym typeface="Arial MT Pro"/>
                </a:rPr>
                <a:t>Linear regression only performed well in a few ZIPs with very stable, trend-only behavior</a:t>
              </a:r>
            </a:p>
            <a:p>
              <a:pPr marL="534963" lvl="1" indent="-267482" algn="l">
                <a:lnSpc>
                  <a:spcPts val="3468"/>
                </a:lnSpc>
                <a:spcBef>
                  <a:spcPct val="0"/>
                </a:spcBef>
                <a:buFont typeface="Arial"/>
                <a:buChar char="•"/>
              </a:pPr>
              <a:r>
                <a:rPr lang="en-US" sz="2477">
                  <a:solidFill>
                    <a:srgbClr val="FFFFFF"/>
                  </a:solidFill>
                  <a:latin typeface="Arial MT Pro"/>
                  <a:ea typeface="Arial MT Pro"/>
                  <a:cs typeface="Arial MT Pro"/>
                  <a:sym typeface="Arial MT Pro"/>
                </a:rPr>
                <a:t>Naive forecasting performed moderately well, confirming that prices rarely jump sharply and follow consistent seasonal patterns.</a:t>
              </a:r>
            </a:p>
            <a:p>
              <a:pPr algn="l">
                <a:lnSpc>
                  <a:spcPts val="3468"/>
                </a:lnSpc>
                <a:spcBef>
                  <a:spcPct val="0"/>
                </a:spcBef>
              </a:pPr>
              <a:endParaRPr lang="en-US" sz="2477">
                <a:solidFill>
                  <a:srgbClr val="FFFFFF"/>
                </a:solidFill>
                <a:latin typeface="Arial MT Pro"/>
                <a:ea typeface="Arial MT Pro"/>
                <a:cs typeface="Arial MT Pro"/>
                <a:sym typeface="Arial MT Pro"/>
              </a:endParaRPr>
            </a:p>
          </p:txBody>
        </p:sp>
      </p:grpSp>
      <p:grpSp>
        <p:nvGrpSpPr>
          <p:cNvPr id="19" name="Group 19"/>
          <p:cNvGrpSpPr/>
          <p:nvPr/>
        </p:nvGrpSpPr>
        <p:grpSpPr>
          <a:xfrm>
            <a:off x="690758" y="1898787"/>
            <a:ext cx="675884" cy="690232"/>
            <a:chOff x="0" y="0"/>
            <a:chExt cx="812800" cy="830054"/>
          </a:xfrm>
        </p:grpSpPr>
        <p:sp>
          <p:nvSpPr>
            <p:cNvPr id="20" name="Freeform 20"/>
            <p:cNvSpPr/>
            <p:nvPr/>
          </p:nvSpPr>
          <p:spPr>
            <a:xfrm>
              <a:off x="0" y="0"/>
              <a:ext cx="812800" cy="830054"/>
            </a:xfrm>
            <a:custGeom>
              <a:avLst/>
              <a:gdLst/>
              <a:ahLst/>
              <a:cxnLst/>
              <a:rect l="l" t="t" r="r" b="b"/>
              <a:pathLst>
                <a:path w="812800" h="830054">
                  <a:moveTo>
                    <a:pt x="406400" y="0"/>
                  </a:moveTo>
                  <a:cubicBezTo>
                    <a:pt x="181951" y="0"/>
                    <a:pt x="0" y="185814"/>
                    <a:pt x="0" y="415027"/>
                  </a:cubicBezTo>
                  <a:cubicBezTo>
                    <a:pt x="0" y="644240"/>
                    <a:pt x="181951" y="830054"/>
                    <a:pt x="406400" y="830054"/>
                  </a:cubicBezTo>
                  <a:cubicBezTo>
                    <a:pt x="630849" y="830054"/>
                    <a:pt x="812800" y="644240"/>
                    <a:pt x="812800" y="415027"/>
                  </a:cubicBezTo>
                  <a:cubicBezTo>
                    <a:pt x="812800" y="185814"/>
                    <a:pt x="630849" y="0"/>
                    <a:pt x="406400" y="0"/>
                  </a:cubicBezTo>
                  <a:close/>
                </a:path>
              </a:pathLst>
            </a:custGeom>
            <a:solidFill>
              <a:srgbClr val="27DDDF"/>
            </a:solidFill>
          </p:spPr>
          <p:txBody>
            <a:bodyPr/>
            <a:lstStyle/>
            <a:p>
              <a:endParaRPr lang="en-US"/>
            </a:p>
          </p:txBody>
        </p:sp>
        <p:sp>
          <p:nvSpPr>
            <p:cNvPr id="21" name="TextBox 21"/>
            <p:cNvSpPr txBox="1"/>
            <p:nvPr/>
          </p:nvSpPr>
          <p:spPr>
            <a:xfrm>
              <a:off x="76200" y="96868"/>
              <a:ext cx="660400" cy="655369"/>
            </a:xfrm>
            <a:prstGeom prst="rect">
              <a:avLst/>
            </a:prstGeom>
          </p:spPr>
          <p:txBody>
            <a:bodyPr lIns="50800" tIns="50800" rIns="50800" bIns="50800" rtlCol="0" anchor="ctr"/>
            <a:lstStyle/>
            <a:p>
              <a:pPr algn="ctr">
                <a:lnSpc>
                  <a:spcPts val="1387"/>
                </a:lnSpc>
              </a:pPr>
              <a:endParaRPr/>
            </a:p>
          </p:txBody>
        </p:sp>
      </p:grpSp>
      <p:sp>
        <p:nvSpPr>
          <p:cNvPr id="22" name="Freeform 22"/>
          <p:cNvSpPr/>
          <p:nvPr/>
        </p:nvSpPr>
        <p:spPr>
          <a:xfrm>
            <a:off x="825506" y="2147953"/>
            <a:ext cx="406389" cy="229794"/>
          </a:xfrm>
          <a:custGeom>
            <a:avLst/>
            <a:gdLst/>
            <a:ahLst/>
            <a:cxnLst/>
            <a:rect l="l" t="t" r="r" b="b"/>
            <a:pathLst>
              <a:path w="406389" h="229794">
                <a:moveTo>
                  <a:pt x="0" y="0"/>
                </a:moveTo>
                <a:lnTo>
                  <a:pt x="406388" y="0"/>
                </a:lnTo>
                <a:lnTo>
                  <a:pt x="406388" y="229794"/>
                </a:lnTo>
                <a:lnTo>
                  <a:pt x="0" y="2297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3" name="TextBox 23"/>
          <p:cNvSpPr txBox="1"/>
          <p:nvPr/>
        </p:nvSpPr>
        <p:spPr>
          <a:xfrm>
            <a:off x="373251" y="5792110"/>
            <a:ext cx="16886049" cy="3724490"/>
          </a:xfrm>
          <a:prstGeom prst="rect">
            <a:avLst/>
          </a:prstGeom>
        </p:spPr>
        <p:txBody>
          <a:bodyPr lIns="0" tIns="0" rIns="0" bIns="0" rtlCol="0" anchor="t">
            <a:spAutoFit/>
          </a:bodyPr>
          <a:lstStyle/>
          <a:p>
            <a:pPr algn="l">
              <a:lnSpc>
                <a:spcPts val="4214"/>
              </a:lnSpc>
            </a:pPr>
            <a:endParaRPr/>
          </a:p>
          <a:p>
            <a:pPr marL="448268" lvl="1" indent="-224134" algn="l">
              <a:lnSpc>
                <a:spcPts val="4214"/>
              </a:lnSpc>
              <a:buFont typeface="Arial"/>
              <a:buChar char="•"/>
            </a:pPr>
            <a:r>
              <a:rPr lang="en-US" sz="2076">
                <a:solidFill>
                  <a:srgbClr val="FFFFFF"/>
                </a:solidFill>
                <a:latin typeface="Arial MT Pro"/>
                <a:ea typeface="Arial MT Pro"/>
                <a:cs typeface="Arial MT Pro"/>
                <a:sym typeface="Arial MT Pro"/>
              </a:rPr>
              <a:t>On average, ARIMA’s prediction error was 40–70% lower than Linear Regression across the ZIP codes tested</a:t>
            </a:r>
          </a:p>
          <a:p>
            <a:pPr marL="448268" lvl="1" indent="-224134" algn="l">
              <a:lnSpc>
                <a:spcPts val="4214"/>
              </a:lnSpc>
              <a:buFont typeface="Arial"/>
              <a:buChar char="•"/>
            </a:pPr>
            <a:r>
              <a:rPr lang="en-US" sz="2076">
                <a:solidFill>
                  <a:srgbClr val="FFFFFF"/>
                </a:solidFill>
                <a:latin typeface="Arial MT Pro"/>
                <a:ea typeface="Arial MT Pro"/>
                <a:cs typeface="Arial MT Pro"/>
                <a:sym typeface="Arial MT Pro"/>
              </a:rPr>
              <a:t>ARIMA delivered the lowest MAPE in ~85–90% of ZIP codes, outperforming linear and polynomial models </a:t>
            </a:r>
          </a:p>
          <a:p>
            <a:pPr marL="448268" lvl="1" indent="-224134" algn="l">
              <a:lnSpc>
                <a:spcPts val="4214"/>
              </a:lnSpc>
              <a:buFont typeface="Arial"/>
              <a:buChar char="•"/>
            </a:pPr>
            <a:r>
              <a:rPr lang="en-US" sz="2076">
                <a:solidFill>
                  <a:srgbClr val="FFFFFF"/>
                </a:solidFill>
                <a:latin typeface="Arial MT Pro"/>
                <a:ea typeface="Arial MT Pro"/>
                <a:cs typeface="Arial MT Pro"/>
                <a:sym typeface="Arial MT Pro"/>
              </a:rPr>
              <a:t>•Naive and Polynomial models were used as baselines for comparison but were not selected for final forecasting due to higher errors.</a:t>
            </a:r>
          </a:p>
          <a:p>
            <a:pPr marL="448268" lvl="1" indent="-224134" algn="l">
              <a:lnSpc>
                <a:spcPts val="4214"/>
              </a:lnSpc>
              <a:buFont typeface="Arial"/>
              <a:buChar char="•"/>
            </a:pPr>
            <a:r>
              <a:rPr lang="en-US" sz="2076">
                <a:solidFill>
                  <a:srgbClr val="FFFFFF"/>
                </a:solidFill>
                <a:latin typeface="Arial MT Pro"/>
                <a:ea typeface="Arial MT Pro"/>
                <a:cs typeface="Arial MT Pro"/>
                <a:sym typeface="Arial MT Pro"/>
              </a:rPr>
              <a:t>•Forecasts indicate steady growth across nearly all ZIP codes through 2026–2027, with higher confidence in ZIPs showing historically stable patterns.</a:t>
            </a:r>
          </a:p>
          <a:p>
            <a:pPr algn="l">
              <a:lnSpc>
                <a:spcPts val="4214"/>
              </a:lnSpc>
            </a:pPr>
            <a:endParaRPr lang="en-US" sz="2076">
              <a:solidFill>
                <a:srgbClr val="FFFFFF"/>
              </a:solidFill>
              <a:latin typeface="Arial MT Pro"/>
              <a:ea typeface="Arial MT Pro"/>
              <a:cs typeface="Arial MT Pro"/>
              <a:sym typeface="Arial MT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sp>
        <p:nvSpPr>
          <p:cNvPr id="2" name="TextBox 2"/>
          <p:cNvSpPr txBox="1"/>
          <p:nvPr/>
        </p:nvSpPr>
        <p:spPr>
          <a:xfrm>
            <a:off x="1200972" y="1000125"/>
            <a:ext cx="12525030" cy="3010082"/>
          </a:xfrm>
          <a:prstGeom prst="rect">
            <a:avLst/>
          </a:prstGeom>
        </p:spPr>
        <p:txBody>
          <a:bodyPr lIns="0" tIns="0" rIns="0" bIns="0" rtlCol="0" anchor="t">
            <a:spAutoFit/>
          </a:bodyPr>
          <a:lstStyle/>
          <a:p>
            <a:pPr algn="l">
              <a:lnSpc>
                <a:spcPts val="7453"/>
              </a:lnSpc>
            </a:pPr>
            <a:r>
              <a:rPr lang="en-US" sz="7166" b="1" spc="-300">
                <a:solidFill>
                  <a:srgbClr val="FFFFFF"/>
                </a:solidFill>
                <a:latin typeface="Arial MT Pro Bold"/>
                <a:ea typeface="Arial MT Pro Bold"/>
                <a:cs typeface="Arial MT Pro Bold"/>
                <a:sym typeface="Arial MT Pro Bold"/>
              </a:rPr>
              <a:t>Classification Model - Housing Affordability Prediction</a:t>
            </a:r>
          </a:p>
          <a:p>
            <a:pPr algn="l">
              <a:lnSpc>
                <a:spcPts val="7453"/>
              </a:lnSpc>
            </a:pPr>
            <a:endParaRPr lang="en-US" sz="7166" b="1" spc="-300">
              <a:solidFill>
                <a:srgbClr val="FFFFFF"/>
              </a:solidFill>
              <a:latin typeface="Arial MT Pro Bold"/>
              <a:ea typeface="Arial MT Pro Bold"/>
              <a:cs typeface="Arial MT Pro Bold"/>
              <a:sym typeface="Arial MT Pro Bold"/>
            </a:endParaRPr>
          </a:p>
        </p:txBody>
      </p:sp>
      <p:grpSp>
        <p:nvGrpSpPr>
          <p:cNvPr id="3" name="Group 3"/>
          <p:cNvGrpSpPr/>
          <p:nvPr/>
        </p:nvGrpSpPr>
        <p:grpSpPr>
          <a:xfrm>
            <a:off x="1200972" y="3201618"/>
            <a:ext cx="16058328" cy="6394977"/>
            <a:chOff x="0" y="0"/>
            <a:chExt cx="4229354" cy="1684274"/>
          </a:xfrm>
        </p:grpSpPr>
        <p:sp>
          <p:nvSpPr>
            <p:cNvPr id="4" name="Freeform 4"/>
            <p:cNvSpPr/>
            <p:nvPr/>
          </p:nvSpPr>
          <p:spPr>
            <a:xfrm>
              <a:off x="0" y="0"/>
              <a:ext cx="4229354" cy="1684274"/>
            </a:xfrm>
            <a:custGeom>
              <a:avLst/>
              <a:gdLst/>
              <a:ahLst/>
              <a:cxnLst/>
              <a:rect l="l" t="t" r="r" b="b"/>
              <a:pathLst>
                <a:path w="4229354" h="1684274">
                  <a:moveTo>
                    <a:pt x="18320" y="0"/>
                  </a:moveTo>
                  <a:lnTo>
                    <a:pt x="4211034" y="0"/>
                  </a:lnTo>
                  <a:cubicBezTo>
                    <a:pt x="4221152" y="0"/>
                    <a:pt x="4229354" y="8202"/>
                    <a:pt x="4229354" y="18320"/>
                  </a:cubicBezTo>
                  <a:lnTo>
                    <a:pt x="4229354" y="1665954"/>
                  </a:lnTo>
                  <a:cubicBezTo>
                    <a:pt x="4229354" y="1670812"/>
                    <a:pt x="4227424" y="1675472"/>
                    <a:pt x="4223988" y="1678908"/>
                  </a:cubicBezTo>
                  <a:cubicBezTo>
                    <a:pt x="4220552" y="1682344"/>
                    <a:pt x="4215892" y="1684274"/>
                    <a:pt x="4211034" y="1684274"/>
                  </a:cubicBezTo>
                  <a:lnTo>
                    <a:pt x="18320" y="1684274"/>
                  </a:lnTo>
                  <a:cubicBezTo>
                    <a:pt x="8202" y="1684274"/>
                    <a:pt x="0" y="1676072"/>
                    <a:pt x="0" y="1665954"/>
                  </a:cubicBezTo>
                  <a:lnTo>
                    <a:pt x="0" y="18320"/>
                  </a:lnTo>
                  <a:cubicBezTo>
                    <a:pt x="0" y="13461"/>
                    <a:pt x="1930" y="8802"/>
                    <a:pt x="5366" y="5366"/>
                  </a:cubicBezTo>
                  <a:cubicBezTo>
                    <a:pt x="8802" y="1930"/>
                    <a:pt x="13461" y="0"/>
                    <a:pt x="18320" y="0"/>
                  </a:cubicBezTo>
                  <a:close/>
                </a:path>
              </a:pathLst>
            </a:custGeom>
            <a:solidFill>
              <a:srgbClr val="202127"/>
            </a:solidFill>
          </p:spPr>
          <p:txBody>
            <a:bodyPr/>
            <a:lstStyle/>
            <a:p>
              <a:endParaRPr lang="en-US"/>
            </a:p>
          </p:txBody>
        </p:sp>
        <p:sp>
          <p:nvSpPr>
            <p:cNvPr id="5" name="TextBox 5"/>
            <p:cNvSpPr txBox="1"/>
            <p:nvPr/>
          </p:nvSpPr>
          <p:spPr>
            <a:xfrm>
              <a:off x="0" y="19050"/>
              <a:ext cx="4229354" cy="1665224"/>
            </a:xfrm>
            <a:prstGeom prst="rect">
              <a:avLst/>
            </a:prstGeom>
          </p:spPr>
          <p:txBody>
            <a:bodyPr lIns="50800" tIns="50800" rIns="50800" bIns="50800" rtlCol="0" anchor="ctr"/>
            <a:lstStyle/>
            <a:p>
              <a:pPr algn="ctr">
                <a:lnSpc>
                  <a:spcPts val="1387"/>
                </a:lnSpc>
              </a:pPr>
              <a:endParaRPr/>
            </a:p>
          </p:txBody>
        </p:sp>
      </p:grpSp>
      <p:grpSp>
        <p:nvGrpSpPr>
          <p:cNvPr id="6" name="Group 6"/>
          <p:cNvGrpSpPr/>
          <p:nvPr/>
        </p:nvGrpSpPr>
        <p:grpSpPr>
          <a:xfrm>
            <a:off x="1716540" y="4805558"/>
            <a:ext cx="675884" cy="67588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txBody>
            <a:bodyPr/>
            <a:lstStyle/>
            <a:p>
              <a:endParaRPr lang="en-US"/>
            </a:p>
          </p:txBody>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1387"/>
                </a:lnSpc>
              </a:pPr>
              <a:endParaRPr/>
            </a:p>
          </p:txBody>
        </p:sp>
      </p:grpSp>
      <p:sp>
        <p:nvSpPr>
          <p:cNvPr id="9" name="Freeform 9"/>
          <p:cNvSpPr/>
          <p:nvPr/>
        </p:nvSpPr>
        <p:spPr>
          <a:xfrm>
            <a:off x="1851287" y="5028603"/>
            <a:ext cx="406389" cy="229794"/>
          </a:xfrm>
          <a:custGeom>
            <a:avLst/>
            <a:gdLst/>
            <a:ahLst/>
            <a:cxnLst/>
            <a:rect l="l" t="t" r="r" b="b"/>
            <a:pathLst>
              <a:path w="406389" h="229794">
                <a:moveTo>
                  <a:pt x="0" y="0"/>
                </a:moveTo>
                <a:lnTo>
                  <a:pt x="406389" y="0"/>
                </a:lnTo>
                <a:lnTo>
                  <a:pt x="406389" y="229794"/>
                </a:lnTo>
                <a:lnTo>
                  <a:pt x="0" y="2297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2764226" y="4937655"/>
            <a:ext cx="6465910" cy="392640"/>
          </a:xfrm>
          <a:prstGeom prst="rect">
            <a:avLst/>
          </a:prstGeom>
        </p:spPr>
        <p:txBody>
          <a:bodyPr lIns="0" tIns="0" rIns="0" bIns="0" rtlCol="0" anchor="t">
            <a:spAutoFit/>
          </a:bodyPr>
          <a:lstStyle/>
          <a:p>
            <a:pPr algn="l">
              <a:lnSpc>
                <a:spcPts val="2552"/>
              </a:lnSpc>
            </a:pPr>
            <a:r>
              <a:rPr lang="en-US" sz="2454" b="1" spc="-103">
                <a:solidFill>
                  <a:srgbClr val="FFFFFF"/>
                </a:solidFill>
                <a:latin typeface="Arial MT Pro Bold"/>
                <a:ea typeface="Arial MT Pro Bold"/>
                <a:cs typeface="Arial MT Pro Bold"/>
                <a:sym typeface="Arial MT Pro Bold"/>
              </a:rPr>
              <a:t>Recomendations</a:t>
            </a:r>
          </a:p>
        </p:txBody>
      </p:sp>
      <p:sp>
        <p:nvSpPr>
          <p:cNvPr id="11" name="TextBox 11"/>
          <p:cNvSpPr txBox="1"/>
          <p:nvPr/>
        </p:nvSpPr>
        <p:spPr>
          <a:xfrm>
            <a:off x="1028700" y="5605812"/>
            <a:ext cx="13989516" cy="4014438"/>
          </a:xfrm>
          <a:prstGeom prst="rect">
            <a:avLst/>
          </a:prstGeom>
        </p:spPr>
        <p:txBody>
          <a:bodyPr lIns="0" tIns="0" rIns="0" bIns="0" rtlCol="0" anchor="t">
            <a:spAutoFit/>
          </a:bodyPr>
          <a:lstStyle/>
          <a:p>
            <a:pPr algn="l">
              <a:lnSpc>
                <a:spcPts val="2906"/>
              </a:lnSpc>
            </a:pPr>
            <a:r>
              <a:rPr lang="en-US" sz="2076">
                <a:solidFill>
                  <a:srgbClr val="FFFFFF"/>
                </a:solidFill>
                <a:latin typeface="Arial MT Pro"/>
                <a:ea typeface="Arial MT Pro"/>
                <a:cs typeface="Arial MT Pro"/>
                <a:sym typeface="Arial MT Pro"/>
              </a:rPr>
              <a:t>     Recommended actions include:</a:t>
            </a:r>
          </a:p>
          <a:p>
            <a:pPr marL="448268" lvl="1" indent="-224134" algn="l">
              <a:lnSpc>
                <a:spcPts val="2906"/>
              </a:lnSpc>
              <a:buFont typeface="Arial"/>
              <a:buChar char="•"/>
            </a:pPr>
            <a:r>
              <a:rPr lang="en-US" sz="2076">
                <a:solidFill>
                  <a:srgbClr val="FFFFFF"/>
                </a:solidFill>
                <a:latin typeface="Arial MT Pro"/>
                <a:ea typeface="Arial MT Pro"/>
                <a:cs typeface="Arial MT Pro"/>
                <a:sym typeface="Arial MT Pro"/>
              </a:rPr>
              <a:t>Salary adjustments or housing stipends for high-risk departments.</a:t>
            </a:r>
          </a:p>
          <a:p>
            <a:pPr algn="l">
              <a:lnSpc>
                <a:spcPts val="2906"/>
              </a:lnSpc>
            </a:pPr>
            <a:endParaRPr lang="en-US" sz="2076">
              <a:solidFill>
                <a:srgbClr val="FFFFFF"/>
              </a:solidFill>
              <a:latin typeface="Arial MT Pro"/>
              <a:ea typeface="Arial MT Pro"/>
              <a:cs typeface="Arial MT Pro"/>
              <a:sym typeface="Arial MT Pro"/>
            </a:endParaRPr>
          </a:p>
          <a:p>
            <a:pPr marL="448268" lvl="1" indent="-224134" algn="l">
              <a:lnSpc>
                <a:spcPts val="2906"/>
              </a:lnSpc>
              <a:buFont typeface="Arial"/>
              <a:buChar char="•"/>
            </a:pPr>
            <a:r>
              <a:rPr lang="en-US" sz="2076">
                <a:solidFill>
                  <a:srgbClr val="FFFFFF"/>
                </a:solidFill>
                <a:latin typeface="Arial MT Pro"/>
                <a:ea typeface="Arial MT Pro"/>
                <a:cs typeface="Arial MT Pro"/>
                <a:sym typeface="Arial MT Pro"/>
              </a:rPr>
              <a:t>Targeted assistance for employees earning under $80,000.</a:t>
            </a:r>
          </a:p>
          <a:p>
            <a:pPr algn="l">
              <a:lnSpc>
                <a:spcPts val="2906"/>
              </a:lnSpc>
            </a:pPr>
            <a:endParaRPr lang="en-US" sz="2076">
              <a:solidFill>
                <a:srgbClr val="FFFFFF"/>
              </a:solidFill>
              <a:latin typeface="Arial MT Pro"/>
              <a:ea typeface="Arial MT Pro"/>
              <a:cs typeface="Arial MT Pro"/>
              <a:sym typeface="Arial MT Pro"/>
            </a:endParaRPr>
          </a:p>
          <a:p>
            <a:pPr marL="448268" lvl="1" indent="-224134" algn="l">
              <a:lnSpc>
                <a:spcPts val="2906"/>
              </a:lnSpc>
              <a:buFont typeface="Arial"/>
              <a:buChar char="•"/>
            </a:pPr>
            <a:r>
              <a:rPr lang="en-US" sz="2076">
                <a:solidFill>
                  <a:srgbClr val="FFFFFF"/>
                </a:solidFill>
                <a:latin typeface="Arial MT Pro"/>
                <a:ea typeface="Arial MT Pro"/>
                <a:cs typeface="Arial MT Pro"/>
                <a:sym typeface="Arial MT Pro"/>
              </a:rPr>
              <a:t>ZIP code–based compensation strategies to offset high cost of living differences.</a:t>
            </a:r>
          </a:p>
          <a:p>
            <a:pPr algn="l">
              <a:lnSpc>
                <a:spcPts val="2906"/>
              </a:lnSpc>
            </a:pPr>
            <a:endParaRPr lang="en-US" sz="2076">
              <a:solidFill>
                <a:srgbClr val="FFFFFF"/>
              </a:solidFill>
              <a:latin typeface="Arial MT Pro"/>
              <a:ea typeface="Arial MT Pro"/>
              <a:cs typeface="Arial MT Pro"/>
              <a:sym typeface="Arial MT Pro"/>
            </a:endParaRPr>
          </a:p>
          <a:p>
            <a:pPr marL="448268" lvl="1" indent="-224134" algn="l">
              <a:lnSpc>
                <a:spcPts val="2906"/>
              </a:lnSpc>
              <a:buFont typeface="Arial"/>
              <a:buChar char="•"/>
            </a:pPr>
            <a:r>
              <a:rPr lang="en-US" sz="2076">
                <a:solidFill>
                  <a:srgbClr val="FFFFFF"/>
                </a:solidFill>
                <a:latin typeface="Arial MT Pro"/>
                <a:ea typeface="Arial MT Pro"/>
                <a:cs typeface="Arial MT Pro"/>
                <a:sym typeface="Arial MT Pro"/>
              </a:rPr>
              <a:t>Expanded remote or hybrid work policies to allow relocation to more affordable areas.</a:t>
            </a:r>
          </a:p>
          <a:p>
            <a:pPr algn="l">
              <a:lnSpc>
                <a:spcPts val="2906"/>
              </a:lnSpc>
            </a:pPr>
            <a:endParaRPr lang="en-US" sz="2076">
              <a:solidFill>
                <a:srgbClr val="FFFFFF"/>
              </a:solidFill>
              <a:latin typeface="Arial MT Pro"/>
              <a:ea typeface="Arial MT Pro"/>
              <a:cs typeface="Arial MT Pro"/>
              <a:sym typeface="Arial MT Pro"/>
            </a:endParaRPr>
          </a:p>
          <a:p>
            <a:pPr marL="448268" lvl="1" indent="-224134" algn="l">
              <a:lnSpc>
                <a:spcPts val="2906"/>
              </a:lnSpc>
              <a:buFont typeface="Arial"/>
              <a:buChar char="•"/>
            </a:pPr>
            <a:r>
              <a:rPr lang="en-US" sz="2076">
                <a:solidFill>
                  <a:srgbClr val="FFFFFF"/>
                </a:solidFill>
                <a:latin typeface="Arial MT Pro"/>
                <a:ea typeface="Arial MT Pro"/>
                <a:cs typeface="Arial MT Pro"/>
                <a:sym typeface="Arial MT Pro"/>
              </a:rPr>
              <a:t>Recruitment and retention programs informed by affordability risk.</a:t>
            </a:r>
          </a:p>
          <a:p>
            <a:pPr algn="l">
              <a:lnSpc>
                <a:spcPts val="2906"/>
              </a:lnSpc>
            </a:pPr>
            <a:endParaRPr lang="en-US" sz="2076">
              <a:solidFill>
                <a:srgbClr val="FFFFFF"/>
              </a:solidFill>
              <a:latin typeface="Arial MT Pro"/>
              <a:ea typeface="Arial MT Pro"/>
              <a:cs typeface="Arial MT Pro"/>
              <a:sym typeface="Arial MT Pro"/>
            </a:endParaRPr>
          </a:p>
        </p:txBody>
      </p:sp>
      <p:sp>
        <p:nvSpPr>
          <p:cNvPr id="12" name="TextBox 12"/>
          <p:cNvSpPr txBox="1"/>
          <p:nvPr/>
        </p:nvSpPr>
        <p:spPr>
          <a:xfrm>
            <a:off x="1380658" y="3480950"/>
            <a:ext cx="15451887" cy="953738"/>
          </a:xfrm>
          <a:prstGeom prst="rect">
            <a:avLst/>
          </a:prstGeom>
        </p:spPr>
        <p:txBody>
          <a:bodyPr lIns="0" tIns="0" rIns="0" bIns="0" rtlCol="0" anchor="t">
            <a:spAutoFit/>
          </a:bodyPr>
          <a:lstStyle/>
          <a:p>
            <a:pPr algn="l">
              <a:lnSpc>
                <a:spcPts val="3606"/>
              </a:lnSpc>
              <a:spcBef>
                <a:spcPct val="0"/>
              </a:spcBef>
            </a:pPr>
            <a:r>
              <a:rPr lang="en-US" sz="2576">
                <a:solidFill>
                  <a:srgbClr val="FFFFFF"/>
                </a:solidFill>
                <a:latin typeface="Arial MT Pro"/>
                <a:ea typeface="Arial MT Pro"/>
                <a:cs typeface="Arial MT Pro"/>
                <a:sym typeface="Arial MT Pro"/>
              </a:rPr>
              <a:t>This section uses </a:t>
            </a:r>
            <a:r>
              <a:rPr lang="en-US" sz="2576" b="1">
                <a:solidFill>
                  <a:srgbClr val="FFFFFF"/>
                </a:solidFill>
                <a:latin typeface="Arial MT Pro Bold"/>
                <a:ea typeface="Arial MT Pro Bold"/>
                <a:cs typeface="Arial MT Pro Bold"/>
                <a:sym typeface="Arial MT Pro Bold"/>
              </a:rPr>
              <a:t>Logistic Regression</a:t>
            </a:r>
            <a:r>
              <a:rPr lang="en-US" sz="2576">
                <a:solidFill>
                  <a:srgbClr val="FFFFFF"/>
                </a:solidFill>
                <a:latin typeface="Arial MT Pro"/>
                <a:ea typeface="Arial MT Pro"/>
                <a:cs typeface="Arial MT Pro"/>
                <a:sym typeface="Arial MT Pro"/>
              </a:rPr>
              <a:t> to predict whether DC public employees will face housing affordability challenges based on salary bracket, ZIP code, and job role.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sp>
        <p:nvSpPr>
          <p:cNvPr id="2" name="Freeform 2"/>
          <p:cNvSpPr/>
          <p:nvPr/>
        </p:nvSpPr>
        <p:spPr>
          <a:xfrm>
            <a:off x="-5112338" y="-7228893"/>
            <a:ext cx="11404113" cy="11487660"/>
          </a:xfrm>
          <a:custGeom>
            <a:avLst/>
            <a:gdLst/>
            <a:ahLst/>
            <a:cxnLst/>
            <a:rect l="l" t="t" r="r" b="b"/>
            <a:pathLst>
              <a:path w="11404113" h="11487660">
                <a:moveTo>
                  <a:pt x="0" y="0"/>
                </a:moveTo>
                <a:lnTo>
                  <a:pt x="11404113" y="0"/>
                </a:lnTo>
                <a:lnTo>
                  <a:pt x="11404113" y="11487660"/>
                </a:lnTo>
                <a:lnTo>
                  <a:pt x="0" y="114876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4364800" y="2224750"/>
            <a:ext cx="9558399" cy="1505800"/>
          </a:xfrm>
          <a:prstGeom prst="rect">
            <a:avLst/>
          </a:prstGeom>
        </p:spPr>
        <p:txBody>
          <a:bodyPr lIns="0" tIns="0" rIns="0" bIns="0" rtlCol="0" anchor="t">
            <a:spAutoFit/>
          </a:bodyPr>
          <a:lstStyle/>
          <a:p>
            <a:pPr algn="ctr">
              <a:lnSpc>
                <a:spcPts val="10048"/>
              </a:lnSpc>
            </a:pPr>
            <a:r>
              <a:rPr lang="en-US" sz="9662" b="1" spc="-405">
                <a:solidFill>
                  <a:srgbClr val="FFFFFF"/>
                </a:solidFill>
                <a:latin typeface="Arial MT Pro Bold"/>
                <a:ea typeface="Arial MT Pro Bold"/>
                <a:cs typeface="Arial MT Pro Bold"/>
                <a:sym typeface="Arial MT Pro Bold"/>
              </a:rPr>
              <a:t>Conclusion</a:t>
            </a:r>
          </a:p>
        </p:txBody>
      </p:sp>
      <p:sp>
        <p:nvSpPr>
          <p:cNvPr id="4" name="TextBox 4"/>
          <p:cNvSpPr txBox="1"/>
          <p:nvPr/>
        </p:nvSpPr>
        <p:spPr>
          <a:xfrm>
            <a:off x="720909" y="4030167"/>
            <a:ext cx="16805339" cy="4641619"/>
          </a:xfrm>
          <a:prstGeom prst="rect">
            <a:avLst/>
          </a:prstGeom>
        </p:spPr>
        <p:txBody>
          <a:bodyPr lIns="0" tIns="0" rIns="0" bIns="0" rtlCol="0" anchor="t">
            <a:spAutoFit/>
          </a:bodyPr>
          <a:lstStyle/>
          <a:p>
            <a:pPr marL="499759" lvl="1" indent="-249879" algn="l">
              <a:lnSpc>
                <a:spcPts val="4629"/>
              </a:lnSpc>
              <a:buFont typeface="Arial"/>
              <a:buChar char="•"/>
            </a:pPr>
            <a:r>
              <a:rPr lang="en-US" sz="2314">
                <a:solidFill>
                  <a:srgbClr val="FFFFFF"/>
                </a:solidFill>
                <a:latin typeface="Arial MT Pro"/>
                <a:ea typeface="Arial MT Pro"/>
                <a:cs typeface="Arial MT Pro"/>
                <a:sym typeface="Arial MT Pro"/>
              </a:rPr>
              <a:t>Widening Affordability Gap: DC home prices increased 4x ($150K→$650K+) while public employee salaries stagnated, creating a structural affordability crisis </a:t>
            </a:r>
          </a:p>
          <a:p>
            <a:pPr marL="499759" lvl="1" indent="-249879" algn="l">
              <a:lnSpc>
                <a:spcPts val="4629"/>
              </a:lnSpc>
              <a:buFont typeface="Arial"/>
              <a:buChar char="•"/>
            </a:pPr>
            <a:r>
              <a:rPr lang="en-US" sz="2314">
                <a:solidFill>
                  <a:srgbClr val="FFFFFF"/>
                </a:solidFill>
                <a:latin typeface="Arial MT Pro"/>
                <a:ea typeface="Arial MT Pro"/>
                <a:cs typeface="Arial MT Pro"/>
                <a:sym typeface="Arial MT Pro"/>
              </a:rPr>
              <a:t>Agency-Level Disparities: High-earning agencies access 15-19 ZIP codes while low-earning agencies ($60-80K median) can afford only 0-5 neighborhoods </a:t>
            </a:r>
          </a:p>
          <a:p>
            <a:pPr marL="499759" lvl="1" indent="-249879" algn="l">
              <a:lnSpc>
                <a:spcPts val="4629"/>
              </a:lnSpc>
              <a:buFont typeface="Arial"/>
              <a:buChar char="•"/>
            </a:pPr>
            <a:r>
              <a:rPr lang="en-US" sz="2314">
                <a:solidFill>
                  <a:srgbClr val="FFFFFF"/>
                </a:solidFill>
                <a:latin typeface="Arial MT Pro"/>
                <a:ea typeface="Arial MT Pro"/>
                <a:cs typeface="Arial MT Pro"/>
                <a:sym typeface="Arial MT Pro"/>
              </a:rPr>
              <a:t>Geographic Inequality: Premium ZIPs (20007, 20008, 20015, 20016) are now unreachable for most workers; fastest-growing areas show 300%+ appreciation </a:t>
            </a:r>
          </a:p>
          <a:p>
            <a:pPr marL="499759" lvl="1" indent="-249879" algn="l">
              <a:lnSpc>
                <a:spcPts val="4629"/>
              </a:lnSpc>
              <a:buFont typeface="Arial"/>
              <a:buChar char="•"/>
            </a:pPr>
            <a:r>
              <a:rPr lang="en-US" sz="2314">
                <a:solidFill>
                  <a:srgbClr val="FFFFFF"/>
                </a:solidFill>
                <a:latin typeface="Arial MT Pro"/>
                <a:ea typeface="Arial MT Pro"/>
                <a:cs typeface="Arial MT Pro"/>
                <a:sym typeface="Arial MT Pro"/>
              </a:rPr>
              <a:t>Workforce Sustainability Crisis: Teachers, EMTs, and essential workers cannot afford to live in communities they serve, threatening long-term recruitment and retention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2" name="Group 2"/>
          <p:cNvGrpSpPr/>
          <p:nvPr/>
        </p:nvGrpSpPr>
        <p:grpSpPr>
          <a:xfrm rot="374770">
            <a:off x="-1666180" y="6478089"/>
            <a:ext cx="20251759" cy="18180272"/>
            <a:chOff x="0" y="0"/>
            <a:chExt cx="5333797" cy="4788220"/>
          </a:xfrm>
        </p:grpSpPr>
        <p:sp>
          <p:nvSpPr>
            <p:cNvPr id="3" name="Freeform 3"/>
            <p:cNvSpPr/>
            <p:nvPr/>
          </p:nvSpPr>
          <p:spPr>
            <a:xfrm>
              <a:off x="0" y="0"/>
              <a:ext cx="5333797" cy="4788220"/>
            </a:xfrm>
            <a:custGeom>
              <a:avLst/>
              <a:gdLst/>
              <a:ahLst/>
              <a:cxnLst/>
              <a:rect l="l" t="t" r="r" b="b"/>
              <a:pathLst>
                <a:path w="5333797" h="4788220">
                  <a:moveTo>
                    <a:pt x="0" y="0"/>
                  </a:moveTo>
                  <a:lnTo>
                    <a:pt x="5333797" y="0"/>
                  </a:lnTo>
                  <a:lnTo>
                    <a:pt x="5333797" y="4788220"/>
                  </a:lnTo>
                  <a:lnTo>
                    <a:pt x="0" y="4788220"/>
                  </a:ln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4" name="TextBox 4"/>
            <p:cNvSpPr txBox="1"/>
            <p:nvPr/>
          </p:nvSpPr>
          <p:spPr>
            <a:xfrm>
              <a:off x="0" y="19050"/>
              <a:ext cx="5333797" cy="4769170"/>
            </a:xfrm>
            <a:prstGeom prst="rect">
              <a:avLst/>
            </a:prstGeom>
          </p:spPr>
          <p:txBody>
            <a:bodyPr lIns="50800" tIns="50800" rIns="50800" bIns="50800" rtlCol="0" anchor="ctr"/>
            <a:lstStyle/>
            <a:p>
              <a:pPr algn="ctr">
                <a:lnSpc>
                  <a:spcPts val="1387"/>
                </a:lnSpc>
              </a:pPr>
              <a:endParaRPr/>
            </a:p>
          </p:txBody>
        </p:sp>
      </p:grpSp>
      <p:sp>
        <p:nvSpPr>
          <p:cNvPr id="5" name="TextBox 5"/>
          <p:cNvSpPr txBox="1"/>
          <p:nvPr/>
        </p:nvSpPr>
        <p:spPr>
          <a:xfrm>
            <a:off x="7235978" y="6247099"/>
            <a:ext cx="4015926" cy="901556"/>
          </a:xfrm>
          <a:prstGeom prst="rect">
            <a:avLst/>
          </a:prstGeom>
        </p:spPr>
        <p:txBody>
          <a:bodyPr lIns="0" tIns="0" rIns="0" bIns="0" rtlCol="0" anchor="t">
            <a:spAutoFit/>
          </a:bodyPr>
          <a:lstStyle/>
          <a:p>
            <a:pPr algn="ctr">
              <a:lnSpc>
                <a:spcPts val="1701"/>
              </a:lnSpc>
            </a:pPr>
            <a:r>
              <a:rPr lang="en-US" sz="1933">
                <a:solidFill>
                  <a:srgbClr val="FFFFFF"/>
                </a:solidFill>
                <a:latin typeface="Arial MT Pro"/>
                <a:ea typeface="Arial MT Pro"/>
                <a:cs typeface="Arial MT Pro"/>
                <a:sym typeface="Arial MT Pro"/>
              </a:rPr>
              <a:t>Minh Phan</a:t>
            </a:r>
          </a:p>
          <a:p>
            <a:pPr algn="ctr">
              <a:lnSpc>
                <a:spcPts val="1701"/>
              </a:lnSpc>
            </a:pPr>
            <a:r>
              <a:rPr lang="en-US" sz="1933">
                <a:solidFill>
                  <a:srgbClr val="FFFFFF"/>
                </a:solidFill>
                <a:latin typeface="Arial MT Pro"/>
                <a:ea typeface="Arial MT Pro"/>
                <a:cs typeface="Arial MT Pro"/>
                <a:sym typeface="Arial MT Pro"/>
              </a:rPr>
              <a:t>Sasi Bejrakashem</a:t>
            </a:r>
          </a:p>
          <a:p>
            <a:pPr algn="ctr">
              <a:lnSpc>
                <a:spcPts val="1701"/>
              </a:lnSpc>
            </a:pPr>
            <a:r>
              <a:rPr lang="en-US" sz="1933">
                <a:solidFill>
                  <a:srgbClr val="FFFFFF"/>
                </a:solidFill>
                <a:latin typeface="Arial MT Pro"/>
                <a:ea typeface="Arial MT Pro"/>
                <a:cs typeface="Arial MT Pro"/>
                <a:sym typeface="Arial MT Pro"/>
              </a:rPr>
              <a:t>Alejandro Pinto</a:t>
            </a:r>
          </a:p>
          <a:p>
            <a:pPr algn="ctr">
              <a:lnSpc>
                <a:spcPts val="1701"/>
              </a:lnSpc>
            </a:pPr>
            <a:r>
              <a:rPr lang="en-US" sz="1933">
                <a:solidFill>
                  <a:srgbClr val="FFFFFF"/>
                </a:solidFill>
                <a:latin typeface="Arial MT Pro"/>
                <a:ea typeface="Arial MT Pro"/>
                <a:cs typeface="Arial MT Pro"/>
                <a:sym typeface="Arial MT Pro"/>
              </a:rPr>
              <a:t>Sundeep Ravichander</a:t>
            </a:r>
          </a:p>
        </p:txBody>
      </p:sp>
      <p:sp>
        <p:nvSpPr>
          <p:cNvPr id="6" name="TextBox 6"/>
          <p:cNvSpPr txBox="1"/>
          <p:nvPr/>
        </p:nvSpPr>
        <p:spPr>
          <a:xfrm>
            <a:off x="2080871" y="4001801"/>
            <a:ext cx="14126257" cy="2226248"/>
          </a:xfrm>
          <a:prstGeom prst="rect">
            <a:avLst/>
          </a:prstGeom>
        </p:spPr>
        <p:txBody>
          <a:bodyPr lIns="0" tIns="0" rIns="0" bIns="0" rtlCol="0" anchor="t">
            <a:spAutoFit/>
          </a:bodyPr>
          <a:lstStyle/>
          <a:p>
            <a:pPr algn="ctr">
              <a:lnSpc>
                <a:spcPts val="14851"/>
              </a:lnSpc>
            </a:pPr>
            <a:r>
              <a:rPr lang="en-US" sz="14279" b="1" spc="-599">
                <a:solidFill>
                  <a:srgbClr val="FFFFFF"/>
                </a:solidFill>
                <a:latin typeface="Arial MT Pro Bold"/>
                <a:ea typeface="Arial MT Pro Bold"/>
                <a:cs typeface="Arial MT Pro Bold"/>
                <a:sym typeface="Arial MT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541</Words>
  <Application>Microsoft Macintosh PowerPoint</Application>
  <PresentationFormat>Custom</PresentationFormat>
  <Paragraphs>62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 MT Pro</vt:lpstr>
      <vt:lpstr>Arial</vt:lpstr>
      <vt:lpstr>Canva Sans Bold</vt:lpstr>
      <vt:lpstr>Calibri</vt:lpstr>
      <vt:lpstr>Arial MT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Green Modern Finance Business Report Presentation</dc:title>
  <cp:lastModifiedBy>Minh Phan (He/Him)</cp:lastModifiedBy>
  <cp:revision>1</cp:revision>
  <dcterms:created xsi:type="dcterms:W3CDTF">2006-08-16T00:00:00Z</dcterms:created>
  <dcterms:modified xsi:type="dcterms:W3CDTF">2025-12-09T01:54:22Z</dcterms:modified>
  <dc:identifier>DAG6qZtEjmI</dc:identifier>
</cp:coreProperties>
</file>